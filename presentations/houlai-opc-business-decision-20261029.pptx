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11" r:id="rId5"/>
    <p:sldId id="280" r:id="rId6"/>
    <p:sldId id="278" r:id="rId7"/>
    <p:sldId id="297" r:id="rId8"/>
    <p:sldId id="351" r:id="rId9"/>
    <p:sldId id="259" r:id="rId10"/>
    <p:sldId id="316" r:id="rId11"/>
    <p:sldId id="352" r:id="rId12"/>
    <p:sldId id="285" r:id="rId13"/>
    <p:sldId id="353" r:id="rId14"/>
    <p:sldId id="257" r:id="rId15"/>
    <p:sldId id="312" r:id="rId16"/>
    <p:sldId id="260" r:id="rId17"/>
    <p:sldId id="287" r:id="rId18"/>
    <p:sldId id="267" r:id="rId19"/>
    <p:sldId id="294" r:id="rId20"/>
    <p:sldId id="298" r:id="rId21"/>
    <p:sldId id="307" r:id="rId22"/>
    <p:sldId id="306" r:id="rId23"/>
    <p:sldId id="305" r:id="rId24"/>
    <p:sldId id="354" r:id="rId25"/>
    <p:sldId id="355" r:id="rId26"/>
    <p:sldId id="358" r:id="rId27"/>
    <p:sldId id="303" r:id="rId28"/>
    <p:sldId id="356" r:id="rId29"/>
    <p:sldId id="357" r:id="rId30"/>
    <p:sldId id="308" r:id="rId31"/>
    <p:sldId id="360" r:id="rId32"/>
    <p:sldId id="304" r:id="rId33"/>
    <p:sldId id="300" r:id="rId34"/>
    <p:sldId id="268" r:id="rId35"/>
    <p:sldId id="313" r:id="rId36"/>
    <p:sldId id="362" r:id="rId37"/>
    <p:sldId id="363" r:id="rId38"/>
    <p:sldId id="262" r:id="rId39"/>
    <p:sldId id="291" r:id="rId40"/>
    <p:sldId id="288" r:id="rId41"/>
    <p:sldId id="314" r:id="rId42"/>
    <p:sldId id="317" r:id="rId4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 20 秒。开场不要说自己已经做成成熟产品。重点：我们从真实工厂问题出发，正在验证一次性 AI 项目能否沉淀为可复用的工业核验能力。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不是从一个抽象的AI创业方向出发，而是先在东莞水泵厂接触到真实业务，并形成六千元的项目合作。,经营过程中我们发现，简单自动化服务容易做，但难形成可靠的业务差异；整厂ERP、MES改造对我们当前团队的技术储备与交付能力要求过高。,所以我们聚焦正式报价之前的技术资料核验：查参数是否对应、用的是不是权威版本，发现问题后交给技术人员审批。这个场景的流程边界更清楚，也更容易测量效果。,需要强调的是，我们已经有首家项目基础，但尚未证明它能规模化复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水泵制造兼外贸直销企业的一单业务，可能穿过客户询盘、销售理解、工程选型、报价批准和生产交付。每次交接都可能产生信息丢失或者版本不一致。这个判断是行业场景假设，不意味着我们已经统计了这家工厂所有错误。我们在厂里观察的起点是英文询盘、Excel和技术附件的整理核对，于是选择从“核查错误并标明证据”而不是“替代工程师决策”切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【约35秒】
以前没有AI，并不是不能做PoC、Pilot。传统工业软件早就在这么做。真正的变化是成本结构：一份小工厂的订单资料核验，过去要为它专门开发文件解析、处理各种格式、编写大量业务规则，客户的收益未必覆盖开发投入。
现在，大模型能辅助从邮件、Excel、技术附件提取信息，确定性规则承担核验，最后仍由工程师审批。这样，一个具体的小流程就可能值得用一个轻量试点去验证。
因此我们不是因为AI火就做一个通用AI工具，而是有意识地去寻找那些高频、价值明确、能验收、又可以控制风险的场景。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【06｜最小服务场景】
【建议讲稿】
例如客户发来泵类设备询盘，同时附上规格书和Excel。业务人员还要去核对内部技术参数和哪个版本最终有效。我们把这些文件转成可核验的数据，发现冲突后给出定位和证据，最后由企业人员决定能否报价。我们不承诺AI自行承担工程责任，也不在当前阶段直接写入客户ERP。
【演示／图表解释】
按六步流程从左往右讲，特别突出批准版本与人工放行。
【证据与表述边界】
这是目标业务流程设计；不同环节的生产就绪程度取决于具体测试和授权，不等于已经全部可交付。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 30—40 秒。用合成的 85 与 58 参数冲突案例解释产品：系统要提取字段、定位来源、指出冲突并转人工，而不是猜一个答案直接报价。不要把演示样本说成客户真实事故或生产运行。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dirty="0">
                <a:sym typeface="+mn-ea"/>
              </a:rPr>
              <a:t>研发流程从样本开始。我们可以自己构造泵的流量、扬程和电源频率出现冲突的案例，先用本地脚本跑解析与字段比对，并记录代码版本、样本版本、原始输入、期望输出和实际结果。下一步必须在获得客户同意后，用客户指定的数据在受控环境测试；最后经过真实人员的工作流程使用，才能讨论生产级上线。能跑通本地Demo不代表已经取得真实客户数据授权，也不代表可以自动放行报价。</a:t>
            </a:r>
            <a:endParaRPr 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 35—40 秒。我们没有把所有 AI 机会都当成产品。简单办公自动化容易被通用工具替代，重型系统集成又超出三人团队当前能力，所以优先验证报价前的工业资料核验。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正的团队能力，不是创始人亲自完成所有工作，而是能把交付过程拆成五道有证据的关卡。,我负责找到值得付费的问题、约定边界和验收标准；业务成员把客户经验沉淀成可检查的规则和样本；技术成员用公共内核实现新客户适配。,最关键的一环是，参与业务的成员还需要脱离原作者，独立完成部署和验证。通过之后，我们才向客户提交，并且由客户有权限的技术责任人进行正式业务审批。,这样即使团队只有三个人，也能避免开发者自己证明自己完全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 30—40 秒。创始人的工作从亲自做完每个功能，转为定义业务边界、分配工作包、设定验收和批准对外承诺。成员要留下版本、测试结果、工时和未解决问题，并逐步证明可以独立复现。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笔之后，我希望把方案卖给更多工厂，却发现客户是否愿意付费才是最大的难题。接触过的部分中小泵厂处理量少，省出来的人工价值不高；大型企业可能有需要，但采购资质、安全和系统接口门槛都高。因此我们不再只问能不能把事情自动化，而开始问：有没有错误成本足够高、客户愿意为可靠核验付费的业务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 </a:t>
            </a:r>
            <a:r>
              <a:rPr lang="en-US"/>
              <a:t>1</a:t>
            </a:r>
            <a:r>
              <a:t>0—</a:t>
            </a:r>
            <a:r>
              <a:rPr lang="en-US"/>
              <a:t>2</a:t>
            </a:r>
            <a:r>
              <a:t>0 秒。关系确实帮助我进入现场、发现问题，但早期我容易先投入方案和 Demo，再确认预算、采购权、数据授权和验收。部分早期沟通中，客户对月度价值和首次部署预算的估计较低，且询盘量波动会影响续费。现在要先核实交易条件，再决定研发投入。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【约45秒】
我们已有一笔真实的6,000元水泵厂合作及现场调研基础，但这只能说明我们能够为一家工厂解决问题，还不能说明可以重复经营。
下一步，我真正要验证三个问题。第一，第二家独立泵厂是不是真的有这类问题，而且愿不愿意出钱。第二，面对新文件、新版本、新单位，系统能不能可靠地发现异常；发现不了时能不能安全地停下来交给工程师。第三，能否让没有开发过原项目的同学凭同一套规则、代码和交付手册完成部署，并且连公共研发成本一起算，成本仍然合理。
这也是我们希望园区帮助的地方：介绍独立的泵阀及非标设备企业，提供合规的脱敏历史样本验证机会，以及能够讨论付费试点的业务负责人。我们愿意用事实决定继续投入，而不是预设规模化已经成功。
【接下一页】我们接下来展示的不是一个万能AI平台，而是团队正在积累的三类资产：核验技术内核、真实案例与可独立交付的方法。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【08｜首个经营关口】
【建议讲稿】
这张漏斗是我们给自己设计的两周左右的早期验证门槛，不是汇报已经达到五次访谈、两份报价。最重要的是建立清晰状态：别人表示有兴趣，只能记为线索；预算路径明确才叫合格商机；签约和回款也必须分别记录。这样团队才不会因为做了很多展示和代码就以为商业取得进展。
【演示／图表解释】
可现场指着五个从左到右的卡片解释，说明数量是行动指标。
【证据与表述边界】
未完成的真实访谈、报价、签约、回款不得在现场填成已完成；必须有记录支持。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这张图表现创始人为什么应该控制变量：第二家同类泵厂比另一行业适合验证复制，因为会减少产品难度变动带来的干扰。等重复性被证明再跨阀门；这一页所有第二至第四家均为目标，没有宣称已签约。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强调预期处理由客户批准的规则定义，不是所有异常一律BLOCK。系统必须实现 no-auto-pass 的硬门槛，如来源不明、单位不明。另一边要检查团队复制能力：不靠原作者、旧用例不退化、跨客户数据授权、工时成本可追踪。有限样本中0次错误不可宣传为0风险。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45秒）：对一个第二家类似泵厂，不要默认开发新APP。先带一个最小授权样本进去，试配置映射，跑双方Eval，交给非原作者独立演示，再计算实际完整成本。我们可以把8工程人时当挑战目标，但跨企业生产上线还涉及采购、部署与验收，不可把这个目标转成正式合同保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法（50秒）：我们要抽出来的不一定是一个会说话的Agent，而是一套客户共用的核验核：提取、来源权威、规则、审批、证据和Eval。不同客户主要不同的是资料映射、访问接口、规则配置和测试集。Codex最适合帮助我们审计代码、实现和补测试，但正式报价不能因为大模型觉得合理就自动批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这张图向评委展示经营管理成熟度：我们不把代码完成数当经营成果，只有真实样本/业务审批、安全回归、非原作者复制、付费与完整成本层层过门。并不是宣称我们已经通过4道门，而是团队治理会使用的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讲述重点】创业初期人员少，不意味着靠创始人的感觉做决定。每个商机必须回答五个问题：有没有真实损失、谁能采购、能否合法提供资料、能否定义验收、考虑获客失败的经济性是否仍成立。各项满足才GO；权限未定HOLD；无限责任与成本失控STOP。每次决定留下证据和工时上限，两位在校成员就不会因为一句“客户有兴趣”而去做一周免费开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最适合对园区评委解释资产积累：我们不是每次交付把服务费换成人工，而是同时沉淀四类跨客户资产。注意“留下”是目标和治理要求，不能说四类资产都已成熟；现有项目需要通过工时表、仓库版本、已批准脱敏案例、独立验收进行证据核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【11｜成本模型】
【建议讲稿】
AI让交付更快，但它也可能只是把工作从客户项目转到了公共研发。如果项目收9000元，直接工时4800元、其他直接费用500元，看起来贡献3700元；但如果还有1800元公共研发应该分摊，阶段贡献只有1900元，甚至还没算管理费用和税。因此每个项目不只报合同额，还要记录人时、公共研发投入和真实费用。
【演示／图表解释】
左侧是逐层扣除的账本，右侧对比 41.1% 与 21.1%。
【证据与表述边界】
所有数字为为了说明核算方法人为设置的示例；不能当作水泵厂、P-02或其他客户的真实数据。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 45—55 秒。主动说明 80%—90%目前不是经过完整工时记录验证的整体效率指标。右侧数字是模拟数据，只解释计算口径：48 到 22 人时总降幅是 54.2%，单模块 10 到 1.5 人时是 85%。下一步先恢复历史记录，再在第二家相似水泵企业建立基线，最后验证阀门。公共研发、测试、部署和售后也必须计入。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家真实项目给我们提供的是现场业务经验，但当时没有完整记录所有可比较的交付工时，所以我们不能直接用它宣称效率提升。,第二家我希望先找另一家水泵厂，不是为了再做一个Demo，而是测试：新客户有不同文件和审批流程时，原有技术是否真正能被另一个成员独立交付。,如果这一关通过，再尝试阀门企业，检验到底是公共核验流程可以复用，还是原来只写出了一套水泵专用程序。,每一单必须留下四类资产：经过确认的业务规则和异常样本、版本化核验内核、独立交付手册和成本价值数据。下一次能够实际使用这些资产，才算真正沉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 40—50 秒。按阶段销售：先诊断，再做有边界的付费 Pilot，只有需求重复、质量稳定且客户愿意持续付费，才产品化。未来 90 天目标是完成 5—10 家访谈、筛选 2—3 家候选伙伴，并争取 1 个付费试点或形成明确止损判断。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20—6:20】所以猴来的商业模式可以分三层。第一层是收取有验收标准的工业核验服务费，让客户不用先冒险买一套大系统。第二层是当需求稳定后，出售有限范围的软件实施和使用许可。第三层是在客户持续使用的前提下，提供维护升级和必要的工程服务，而不是每家无限驻场。最关键的是我们的研发决策：比如专项研发假设投入3200元，如果每多交付一家相似客户能节省1200至1600元，那么至少还需要两到三家新增相似客户，才可能收回这笔投入。这个数字只是模型，当前没有证明；它也没算全部管理和获客费用。但它表达了我们做生意的原则：不因为技术上能写就做，而是看客户是否愿付费、需求是否能复制、研发投资能否收回。我们希望团队越来越多依靠可复用的软件能力，而不是永远只能出售工程师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在临港重点想接触两类客户。第一类是高端装备和工程配套企业，看看技术文件版本、质量资料、工程变更等是否存在客户愿意付费解决的问题。第二类是ERP、MES、PLM等工业软件实施商，我们希望通过合作提供有边界的AI核验组件，参与对方的客户项目。这里要特别说明：这些只是我们想验证的客户类型，临港还没有形成已经签约的客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不想用做了多少代码、多少页面来定义团队成熟，而希望用四类可检查的商业与技术证据。,第一，有独立企业真正愿意采购；第二，关键异常能在经确认的测试集中可靠识别，不能用模型生成的解释代替来源证据；第三，非原作者能够独立部署和复核；第四，把公共研发也算入成本后，交付经济性仍在改善。,如果这些证据不足，我们不会因为Demo看起来很好就盲目扩张。,所以我们希望在园区获得的不只是办公空间，而是企业访谈入口、经过授权的样本，以及有预算责任人的付费试点机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今天希望园区帮忙连接合适的企业和实施商。我们可以提供现有的核验原型、现场业务理解及有限范围的诊断验证；希望介绍一两家真正存在文件核验问题的制造企业、一家有工程服务经验的实施合作伙伴，以及在合法授权前提下取得样本和采购条件。如果有机会入驻，90天先做访谈、技术验证和付费试点争取，未验证成功就调整方向，而不是为了保持创业故事继续研发。谢谢。这里务必补正式联系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060" cy="54864"/>
          </a:xfrm>
          <a:prstGeom prst="rect">
            <a:avLst/>
          </a:prstGeom>
          <a:solidFill>
            <a:srgbClr val="24B6AD"/>
          </a:solidFill>
          <a:ln w="12700">
            <a:solidFill>
              <a:srgbClr val="24B6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473" y="6501384"/>
            <a:ext cx="2925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084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HOULAI  /  猴来工作室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26278" y="6501384"/>
            <a:ext cx="379456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84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双选会可选章节  ·  商业模型与经营验证  |  2026.10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275" y="6510528"/>
            <a:ext cx="799958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0849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tags" Target="../tags/tag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tags" Target="../tags/tag6.xml"/><Relationship Id="rId2" Type="http://schemas.openxmlformats.org/officeDocument/2006/relationships/image" Target="../media/image12.png"/><Relationship Id="rId1" Type="http://schemas.openxmlformats.org/officeDocument/2006/relationships/tags" Target="../tags/tag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594360"/>
            <a:ext cx="4114800" cy="4114800"/>
          </a:xfrm>
          <a:prstGeom prst="ellipse">
            <a:avLst/>
          </a:prstGeom>
          <a:solidFill>
            <a:srgbClr val="1E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3200400" cy="3200400"/>
          </a:xfrm>
          <a:prstGeom prst="ellipse">
            <a:avLst/>
          </a:prstGeom>
          <a:solidFill>
            <a:srgbClr val="19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530352" cy="530352"/>
          </a:xfrm>
          <a:prstGeom prst="roundRect">
            <a:avLst/>
          </a:prstGeom>
          <a:solidFill>
            <a:srgbClr val="19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530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微软雅黑"/>
              </a:rPr>
              <a:t>H</a:t>
            </a:r>
            <a:endParaRPr sz="2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44168" y="74980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D5E3"/>
                </a:solidFill>
                <a:latin typeface="微软雅黑"/>
              </a:rPr>
              <a:t>HOULAI STUDIO  /  猴来工作室</a:t>
            </a:r>
            <a:endParaRPr sz="1100" b="1" i="0">
              <a:solidFill>
                <a:srgbClr val="C8D5E3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105" y="1645920"/>
            <a:ext cx="8710930" cy="995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猴来工作室</a:t>
            </a:r>
            <a:r>
              <a:rPr lang="zh-CN" sz="3100" b="1" i="0">
                <a:solidFill>
                  <a:srgbClr val="FFFFFF"/>
                </a:solidFill>
                <a:latin typeface="微软雅黑"/>
              </a:rPr>
              <a:t>：</a:t>
            </a:r>
            <a:endParaRPr sz="3100" b="1" i="0">
              <a:solidFill>
                <a:srgbClr val="FFFFFF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工业 AI 核验与可信业务工作流</a:t>
            </a:r>
            <a:r>
              <a:rPr lang="zh-CN" sz="3100" b="1" i="0">
                <a:solidFill>
                  <a:srgbClr val="FFFFFF"/>
                </a:solidFill>
                <a:latin typeface="微软雅黑"/>
              </a:rPr>
              <a:t>搭建</a:t>
            </a:r>
            <a:endParaRPr lang="zh-CN" sz="31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3310128"/>
            <a:ext cx="7132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BBD9D7"/>
                </a:solidFill>
                <a:latin typeface="微软雅黑"/>
              </a:rPr>
              <a:t>从真实交付到可复制服务：用证据做经营决策</a:t>
            </a:r>
            <a:endParaRPr sz="1700" b="1" i="0">
              <a:solidFill>
                <a:srgbClr val="BBD9D7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986784"/>
            <a:ext cx="7589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8E2EC"/>
                </a:solidFill>
                <a:latin typeface="微软雅黑"/>
              </a:rPr>
              <a:t>客户问题要验证 · 工程资产要复用 · 商业结果要核算</a:t>
            </a:r>
            <a:endParaRPr sz="1300" b="0" i="0">
              <a:solidFill>
                <a:srgbClr val="D8E2EC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5074920"/>
            <a:ext cx="2084831" cy="841248"/>
          </a:xfrm>
          <a:prstGeom prst="roundRect">
            <a:avLst/>
          </a:prstGeom>
          <a:solidFill>
            <a:srgbClr val="21364D"/>
          </a:solidFill>
          <a:ln w="12700">
            <a:solidFill>
              <a:srgbClr val="3B5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521208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8C8C0"/>
                </a:solidFill>
                <a:latin typeface="微软雅黑"/>
              </a:rPr>
              <a:t>01</a:t>
            </a:r>
            <a:endParaRPr sz="900" b="1" i="0">
              <a:solidFill>
                <a:srgbClr val="78C8C0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98448" y="5175504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做取舍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5532120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7D4E2"/>
                </a:solidFill>
                <a:latin typeface="微软雅黑"/>
              </a:rPr>
              <a:t>不因 AI 能做就投入</a:t>
            </a:r>
            <a:endParaRPr sz="950" b="0" i="0">
              <a:solidFill>
                <a:srgbClr val="C7D4E2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63240" y="5074920"/>
            <a:ext cx="2084831" cy="841248"/>
          </a:xfrm>
          <a:prstGeom prst="roundRect">
            <a:avLst/>
          </a:prstGeom>
          <a:solidFill>
            <a:srgbClr val="21364D"/>
          </a:solidFill>
          <a:ln w="12700">
            <a:solidFill>
              <a:srgbClr val="3B5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521208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8C8C0"/>
                </a:solidFill>
                <a:latin typeface="微软雅黑"/>
              </a:rPr>
              <a:t>02</a:t>
            </a:r>
            <a:endParaRPr sz="900" b="1" i="0">
              <a:solidFill>
                <a:srgbClr val="78C8C0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1880" y="5175504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建流程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9544" y="5532120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7D4E2"/>
                </a:solidFill>
                <a:latin typeface="微软雅黑"/>
              </a:rPr>
              <a:t>让成员按证据交付</a:t>
            </a:r>
            <a:endParaRPr sz="950" b="0" i="0">
              <a:solidFill>
                <a:srgbClr val="C7D4E2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376672" y="5074920"/>
            <a:ext cx="2084831" cy="841248"/>
          </a:xfrm>
          <a:prstGeom prst="roundRect">
            <a:avLst/>
          </a:prstGeom>
          <a:solidFill>
            <a:srgbClr val="21364D"/>
          </a:solidFill>
          <a:ln w="12700">
            <a:solidFill>
              <a:srgbClr val="3B5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2" y="5212080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78C8C0"/>
                </a:solidFill>
                <a:latin typeface="微软雅黑"/>
              </a:rPr>
              <a:t>03</a:t>
            </a:r>
            <a:endParaRPr sz="900" b="1" i="0">
              <a:solidFill>
                <a:srgbClr val="78C8C0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25312" y="5175504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验复用</a:t>
            </a:r>
            <a:endParaRPr sz="14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22976" y="5532120"/>
            <a:ext cx="18470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7D4E2"/>
                </a:solidFill>
                <a:latin typeface="微软雅黑"/>
              </a:rPr>
              <a:t>让下一家更可靠、更经济</a:t>
            </a:r>
            <a:endParaRPr sz="950" b="0" i="0">
              <a:solidFill>
                <a:srgbClr val="C7D4E2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808" y="6355080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9CB0C3"/>
                </a:solidFill>
                <a:latin typeface="微软雅黑"/>
              </a:rPr>
              <a:t>上海临港 OPC 双选会  ·  2026.10</a:t>
            </a:r>
            <a:endParaRPr sz="900" b="0" i="0">
              <a:solidFill>
                <a:srgbClr val="9CB0C3"/>
              </a:solidFill>
              <a:latin typeface="微软雅黑"/>
            </a:endParaRPr>
          </a:p>
        </p:txBody>
      </p:sp>
      <p:pic>
        <p:nvPicPr>
          <p:cNvPr id="25" name="图片 24" descr="f4f6ea7f0ae94ec9d26216214656bf2c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95365" y="75565"/>
            <a:ext cx="2244090" cy="17252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100579"/>
          </a:xfrm>
          <a:prstGeom prst="rect">
            <a:avLst/>
          </a:prstGeom>
          <a:solidFill>
            <a:srgbClr val="14263F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473" y="265341"/>
            <a:ext cx="4571762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HOU LAI  /  猴来工作室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12616" y="603651"/>
            <a:ext cx="1005787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kern="0" spc="8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/  聚焦一个决策前的高价值问题</a:t>
            </a:r>
            <a:endParaRPr lang="en-US" sz="1040" dirty="0"/>
          </a:p>
        </p:txBody>
      </p:sp>
      <p:sp>
        <p:nvSpPr>
          <p:cNvPr id="5" name="Text 3"/>
          <p:cNvSpPr/>
          <p:nvPr/>
        </p:nvSpPr>
        <p:spPr>
          <a:xfrm>
            <a:off x="603473" y="923674"/>
            <a:ext cx="11063664" cy="58518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从真实客户出发，选择一个可验证的商业切口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60" y="1554578"/>
            <a:ext cx="10835076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不是做“所有企业的AI”，而是先解决工业设备正式报价前的技术资料核验。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10953941" y="329345"/>
            <a:ext cx="658334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473" y="2194624"/>
            <a:ext cx="3282525" cy="241389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061" y="2377495"/>
            <a:ext cx="1499538" cy="292593"/>
          </a:xfrm>
          <a:prstGeom prst="roundRect">
            <a:avLst>
              <a:gd name="adj" fmla="val 31250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09" y="2393953"/>
            <a:ext cx="1353242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A451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已有真实项目基础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841204" y="2852958"/>
            <a:ext cx="2761344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首家东莞水泵厂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2061" y="3255273"/>
            <a:ext cx="2697340" cy="4937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6,000 元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50348" y="3803884"/>
            <a:ext cx="2779631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真实合同与现场项目经验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48" y="4197056"/>
            <a:ext cx="2779631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但尚缺完整可比工时基线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32294" y="3209555"/>
            <a:ext cx="192014" cy="301736"/>
          </a:xfrm>
          <a:prstGeom prst="chevron">
            <a:avLst/>
          </a:prstGeom>
          <a:solidFill>
            <a:srgbClr val="0E9387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748" y="2194624"/>
            <a:ext cx="3245951" cy="241389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9192" y="2377495"/>
            <a:ext cx="1234376" cy="292593"/>
          </a:xfrm>
          <a:prstGeom prst="roundRect">
            <a:avLst>
              <a:gd name="adj" fmla="val 31250"/>
            </a:avLst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341" y="2393953"/>
            <a:ext cx="1088079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03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经营上的取舍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4608336" y="2834671"/>
            <a:ext cx="2743057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1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不把两条路线作为主线</a:t>
            </a:r>
            <a:endParaRPr lang="en-US" sz="1710" dirty="0"/>
          </a:p>
        </p:txBody>
      </p:sp>
      <p:sp>
        <p:nvSpPr>
          <p:cNvPr id="20" name="Shape 18"/>
          <p:cNvSpPr/>
          <p:nvPr/>
        </p:nvSpPr>
        <p:spPr>
          <a:xfrm>
            <a:off x="4608336" y="3364995"/>
            <a:ext cx="2752201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608336" y="3520435"/>
            <a:ext cx="2651622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通用自动化包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4608336" y="3822172"/>
            <a:ext cx="2733914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门槛低，但差异化和付费待证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4608336" y="4123908"/>
            <a:ext cx="2697340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整厂 ERP / MES 改造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08336" y="4352496"/>
            <a:ext cx="2779631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技术与交付边界超出当前资源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7771995" y="3209555"/>
            <a:ext cx="192014" cy="301736"/>
          </a:xfrm>
          <a:prstGeom prst="chevron">
            <a:avLst/>
          </a:prstGeom>
          <a:solidFill>
            <a:srgbClr val="0E9387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8593" y="2194624"/>
            <a:ext cx="3437965" cy="2413890"/>
          </a:xfrm>
          <a:prstGeom prst="roundRect">
            <a:avLst>
              <a:gd name="adj" fmla="val 6061"/>
            </a:avLst>
          </a:prstGeom>
          <a:solidFill>
            <a:srgbClr val="14263F"/>
          </a:solidFill>
          <a:ln w="12700">
            <a:solidFill>
              <a:srgbClr val="1426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48037" y="2386638"/>
            <a:ext cx="1517825" cy="292593"/>
          </a:xfrm>
          <a:prstGeom prst="roundRect">
            <a:avLst>
              <a:gd name="adj" fmla="val 31250"/>
            </a:avLst>
          </a:prstGeom>
          <a:solidFill>
            <a:srgbClr val="2B726B"/>
          </a:solidFill>
          <a:ln w="12700">
            <a:solidFill>
              <a:srgbClr val="2B72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21185" y="2403096"/>
            <a:ext cx="1371529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优先验证的方向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8338894" y="2898676"/>
            <a:ext cx="3008219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报价前技术资料核验</a:t>
            </a:r>
            <a:endParaRPr lang="en-US" sz="1860" dirty="0"/>
          </a:p>
        </p:txBody>
      </p:sp>
      <p:sp>
        <p:nvSpPr>
          <p:cNvPr id="30" name="Text 28"/>
          <p:cNvSpPr/>
          <p:nvPr/>
        </p:nvSpPr>
        <p:spPr>
          <a:xfrm>
            <a:off x="8366324" y="3456431"/>
            <a:ext cx="2880210" cy="26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DED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跨文件参数一致性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366324" y="3785597"/>
            <a:ext cx="2880210" cy="26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DED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权威版本核对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8366324" y="4114764"/>
            <a:ext cx="2880210" cy="26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DED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异常提示 → 人工审批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612616" y="4919394"/>
            <a:ext cx="10953941" cy="1115510"/>
          </a:xfrm>
          <a:prstGeom prst="roundRect">
            <a:avLst>
              <a:gd name="adj" fmla="val 13115"/>
            </a:avLst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778" y="5138839"/>
            <a:ext cx="2148728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为什么先做这一关？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026506" y="5038260"/>
            <a:ext cx="1481251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决策点明确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513545" y="5038260"/>
            <a:ext cx="1462964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可限范围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09727" y="5038260"/>
            <a:ext cx="2231020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可以量化价值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026506" y="5449719"/>
            <a:ext cx="2093867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报价前承诺前检查</a:t>
            </a:r>
            <a:endParaRPr lang="en-US" sz="1140" dirty="0"/>
          </a:p>
        </p:txBody>
      </p:sp>
      <p:sp>
        <p:nvSpPr>
          <p:cNvPr id="39" name="Text 37"/>
          <p:cNvSpPr/>
          <p:nvPr/>
        </p:nvSpPr>
        <p:spPr>
          <a:xfrm>
            <a:off x="5513545" y="5449719"/>
            <a:ext cx="2276737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先做受控文件与规则</a:t>
            </a:r>
            <a:endParaRPr lang="en-US" sz="1140" dirty="0"/>
          </a:p>
        </p:txBody>
      </p:sp>
      <p:sp>
        <p:nvSpPr>
          <p:cNvPr id="40" name="Text 38"/>
          <p:cNvSpPr/>
          <p:nvPr/>
        </p:nvSpPr>
        <p:spPr>
          <a:xfrm>
            <a:off x="8009727" y="5449719"/>
            <a:ext cx="2267594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耗时、返工与漏检</a:t>
            </a: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612616" y="6501224"/>
            <a:ext cx="10963085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621760" y="6537798"/>
            <a:ext cx="10972229" cy="19201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事实边界：首家项目并不等于已证明可规模化；订单批准前核验为后续扩展场景。</a:t>
            </a:r>
            <a:endParaRPr lang="en-US" sz="8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186" y="301915"/>
            <a:ext cx="10789358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30" dirty="0">
                <a:solidFill>
                  <a:srgbClr val="3ED4BC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01 / 真实业务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186" y="658512"/>
            <a:ext cx="10917367" cy="5120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一家“生产＋外贸直销”水泵厂，</a:t>
            </a:r>
            <a:r>
              <a:rPr lang="zh-CN" altLang="en-US" sz="2700" b="1" dirty="0">
                <a:solidFill>
                  <a:srgbClr val="C000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问题</a:t>
            </a: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在哪里？</a:t>
            </a:r>
            <a:r>
              <a:rPr lang="zh-CN" altLang="en-US" sz="2700" b="1" dirty="0">
                <a:solidFill>
                  <a:srgbClr val="C000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什么最</a:t>
            </a:r>
            <a:r>
              <a:rPr lang="zh-CN" altLang="en-US" sz="2700" b="1" dirty="0">
                <a:solidFill>
                  <a:srgbClr val="C00000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难受？</a:t>
            </a:r>
            <a:endParaRPr lang="zh-CN" altLang="en-US" sz="2700" b="1" dirty="0">
              <a:solidFill>
                <a:srgbClr val="C00000"/>
              </a:solidFill>
              <a:latin typeface="微软雅黑" pitchFamily="34" charset="0"/>
              <a:ea typeface="微软雅黑" charset="-122"/>
              <a:cs typeface="微软雅黑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3473" y="1243698"/>
            <a:ext cx="10880793" cy="4388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chemeClr val="tx1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价值往往不在写一封英文邮件，而在同一笔订单的多次信息交接。</a:t>
            </a:r>
            <a:endParaRPr lang="en-US" sz="1230" dirty="0">
              <a:solidFill>
                <a:schemeClr val="tx1"/>
              </a:solidFill>
              <a:latin typeface="微软雅黑" pitchFamily="34" charset="0"/>
              <a:ea typeface="微软雅黑" charset="-122"/>
              <a:cs typeface="微软雅黑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5186" y="6391502"/>
            <a:ext cx="11027090" cy="0"/>
          </a:xfrm>
          <a:prstGeom prst="line">
            <a:avLst/>
          </a:prstGeom>
          <a:noFill/>
          <a:ln w="10160">
            <a:solidFill>
              <a:srgbClr val="3047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29" y="6455506"/>
            <a:ext cx="9875006" cy="19201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FA2B7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猴来工作室  |  双选会专题 · 工业AI服务与经营边界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54520" y="6437219"/>
            <a:ext cx="539468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3ED4BC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9190" y="2030041"/>
            <a:ext cx="1846992" cy="1042362"/>
          </a:xfrm>
          <a:prstGeom prst="roundRect">
            <a:avLst>
              <a:gd name="adj" fmla="val 9649"/>
            </a:avLst>
          </a:prstGeom>
          <a:solidFill>
            <a:srgbClr val="172B43"/>
          </a:solidFill>
          <a:ln w="11430">
            <a:solidFill>
              <a:srgbClr val="3047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25" y="2167194"/>
            <a:ext cx="1664121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客户询盘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625" y="2633513"/>
            <a:ext cx="1664121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0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邮件 / 附件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32756" y="2313490"/>
            <a:ext cx="411459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3ED4BC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2916784" y="2030041"/>
            <a:ext cx="1846992" cy="1042362"/>
          </a:xfrm>
          <a:prstGeom prst="roundRect">
            <a:avLst>
              <a:gd name="adj" fmla="val 9649"/>
            </a:avLst>
          </a:prstGeom>
          <a:solidFill>
            <a:srgbClr val="172B43"/>
          </a:solidFill>
          <a:ln w="11430">
            <a:solidFill>
              <a:srgbClr val="3047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219" y="2167194"/>
            <a:ext cx="1664121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外贸销售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08219" y="2633513"/>
            <a:ext cx="1664121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0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理解需求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350" y="2313490"/>
            <a:ext cx="411459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3ED4BC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5184378" y="2030041"/>
            <a:ext cx="1846992" cy="1042362"/>
          </a:xfrm>
          <a:prstGeom prst="roundRect">
            <a:avLst>
              <a:gd name="adj" fmla="val 9649"/>
            </a:avLst>
          </a:prstGeom>
          <a:solidFill>
            <a:srgbClr val="172B43"/>
          </a:solidFill>
          <a:ln w="11430">
            <a:solidFill>
              <a:srgbClr val="3ED4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5813" y="2167194"/>
            <a:ext cx="1664121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技术工程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75813" y="2633513"/>
            <a:ext cx="1664121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0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参数 / 选型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67944" y="2313490"/>
            <a:ext cx="411459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3ED4BC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7451972" y="2030041"/>
            <a:ext cx="1846992" cy="1042362"/>
          </a:xfrm>
          <a:prstGeom prst="roundRect">
            <a:avLst>
              <a:gd name="adj" fmla="val 9649"/>
            </a:avLst>
          </a:prstGeom>
          <a:solidFill>
            <a:srgbClr val="172B43"/>
          </a:solidFill>
          <a:ln w="11430">
            <a:solidFill>
              <a:srgbClr val="3047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407" y="2167194"/>
            <a:ext cx="1664121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报价审批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43407" y="2633513"/>
            <a:ext cx="1664121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0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价格 / 交期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35538" y="2313490"/>
            <a:ext cx="411459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3ED4BC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→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9719566" y="2030041"/>
            <a:ext cx="1846992" cy="1042362"/>
          </a:xfrm>
          <a:prstGeom prst="roundRect">
            <a:avLst>
              <a:gd name="adj" fmla="val 9649"/>
            </a:avLst>
          </a:prstGeom>
          <a:solidFill>
            <a:srgbClr val="172B43"/>
          </a:solidFill>
          <a:ln w="11430">
            <a:solidFill>
              <a:srgbClr val="3047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11001" y="2167194"/>
            <a:ext cx="1664121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B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工厂交付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11001" y="2633513"/>
            <a:ext cx="1664121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0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生产 / 质检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477" y="3493005"/>
            <a:ext cx="3602548" cy="1536112"/>
          </a:xfrm>
          <a:prstGeom prst="roundRect">
            <a:avLst>
              <a:gd name="adj" fmla="val 6548"/>
            </a:avLst>
          </a:prstGeom>
          <a:solidFill>
            <a:srgbClr val="112238"/>
          </a:solidFill>
          <a:ln w="11430">
            <a:solidFill>
              <a:srgbClr val="3047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491" y="3767310"/>
            <a:ext cx="3200233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C97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文件不同版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9491" y="4233630"/>
            <a:ext cx="3200233" cy="50289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FC0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询盘、附件、旧报价的数据可能冲突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07757" y="3493005"/>
            <a:ext cx="3602548" cy="1536112"/>
          </a:xfrm>
          <a:prstGeom prst="roundRect">
            <a:avLst>
              <a:gd name="adj" fmla="val 6548"/>
            </a:avLst>
          </a:prstGeom>
          <a:solidFill>
            <a:srgbClr val="112238"/>
          </a:solidFill>
          <a:ln w="11430">
            <a:solidFill>
              <a:srgbClr val="3047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9771" y="3767310"/>
            <a:ext cx="3200233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C97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职责不同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699771" y="4233630"/>
            <a:ext cx="3200233" cy="50289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FC0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业务员不能代替工程师批准技术参数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48037" y="3493005"/>
            <a:ext cx="3602548" cy="1536112"/>
          </a:xfrm>
          <a:prstGeom prst="roundRect">
            <a:avLst>
              <a:gd name="adj" fmla="val 6548"/>
            </a:avLst>
          </a:prstGeom>
          <a:solidFill>
            <a:srgbClr val="112238"/>
          </a:solidFill>
          <a:ln w="11430">
            <a:solidFill>
              <a:srgbClr val="3047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0051" y="3767310"/>
            <a:ext cx="3200233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C978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风险能扩大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540051" y="4233630"/>
            <a:ext cx="3200233" cy="50289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FC0D2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报价错误可能向生产和出货传递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03473" y="5614302"/>
            <a:ext cx="10972229" cy="566898"/>
          </a:xfrm>
          <a:prstGeom prst="roundRect">
            <a:avLst>
              <a:gd name="adj" fmla="val 17742"/>
            </a:avLst>
          </a:prstGeom>
          <a:solidFill>
            <a:srgbClr val="172B43"/>
          </a:solidFill>
          <a:ln w="11430">
            <a:solidFill>
              <a:srgbClr val="3ED4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487" y="5687450"/>
            <a:ext cx="10469335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D4BC"/>
                </a:solidFill>
                <a:latin typeface="微软雅黑" pitchFamily="34" charset="0"/>
                <a:ea typeface="微软雅黑" charset="-122"/>
                <a:cs typeface="微软雅黑" pitchFamily="34" charset="-120"/>
              </a:rPr>
              <a:t>我们优先解决“跨文件规格一致性与人工确认”，而不是直接替企业控制生产。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68576"/>
          </a:xfrm>
          <a:prstGeom prst="rect">
            <a:avLst/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63" y="219623"/>
            <a:ext cx="5028938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 HOULAI  /  临港双选会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0700" y="219623"/>
            <a:ext cx="2103010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战略判断  1 / 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63" y="658512"/>
            <a:ext cx="11237391" cy="0"/>
          </a:xfrm>
          <a:prstGeom prst="line">
            <a:avLst/>
          </a:prstGeom>
          <a:noFill/>
          <a:ln w="15240">
            <a:solidFill>
              <a:srgbClr val="DC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50" y="6546942"/>
            <a:ext cx="9234959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市场机会不是“有了AI才能做PoC”，而是交付成本结构变化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73386" y="6482937"/>
            <a:ext cx="502894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50" y="941962"/>
            <a:ext cx="11155099" cy="5303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423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</a:t>
            </a:r>
            <a:r>
              <a:rPr lang="en-US" sz="2900" b="1" dirty="0">
                <a:solidFill>
                  <a:srgbClr val="1423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有机会以更低的初始成本，解决单一高价值流程</a:t>
            </a:r>
            <a:r>
              <a:rPr lang="en-US" sz="290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。</a:t>
            </a:r>
            <a:endParaRPr lang="zh-CN" altLang="en-US" sz="2900" b="1" dirty="0">
              <a:solidFill>
                <a:srgbClr val="1423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894" y="1518004"/>
            <a:ext cx="10972229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过去做得到，但未必算得过账；现在有机会以更低的初始成本，解决单一高价值流程。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07" y="2121476"/>
            <a:ext cx="5230096" cy="2834492"/>
          </a:xfrm>
          <a:prstGeom prst="roundRect">
            <a:avLst>
              <a:gd name="adj" fmla="val 5484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482" y="2340921"/>
            <a:ext cx="2148728" cy="393172"/>
          </a:xfrm>
          <a:prstGeom prst="roundRect">
            <a:avLst>
              <a:gd name="adj" fmla="val 30233"/>
            </a:avLst>
          </a:prstGeom>
          <a:solidFill>
            <a:srgbClr val="EDF2F8"/>
          </a:solidFill>
          <a:ln w="12700">
            <a:solidFill>
              <a:srgbClr val="EDF2F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30" y="2354636"/>
            <a:ext cx="2002432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过去｜传统软件交付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43" y="2944393"/>
            <a:ext cx="1627547" cy="3748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客户文件多样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32177" y="2926106"/>
            <a:ext cx="320023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2834492" y="2944393"/>
            <a:ext cx="1993288" cy="3748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大量定制开发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6343" y="3502148"/>
            <a:ext cx="4498614" cy="0"/>
          </a:xfrm>
          <a:prstGeom prst="line">
            <a:avLst/>
          </a:prstGeom>
          <a:noFill/>
          <a:ln w="15240">
            <a:solidFill>
              <a:srgbClr val="DC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43" y="3776454"/>
            <a:ext cx="4315743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单厂问题虽然存在，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6343" y="4160482"/>
            <a:ext cx="4443753" cy="475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但实施与长期维护投入可能高于收益。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25003" y="2121476"/>
            <a:ext cx="5760420" cy="2834492"/>
          </a:xfrm>
          <a:prstGeom prst="roundRect">
            <a:avLst>
              <a:gd name="adj" fmla="val 5484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1879" y="2340921"/>
            <a:ext cx="2743057" cy="393172"/>
          </a:xfrm>
          <a:prstGeom prst="roundRect">
            <a:avLst>
              <a:gd name="adj" fmla="val 30233"/>
            </a:avLst>
          </a:prstGeom>
          <a:solidFill>
            <a:srgbClr val="E9F6F3"/>
          </a:solidFill>
          <a:ln w="12700">
            <a:solidFill>
              <a:srgbClr val="E9F6F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027" y="2354636"/>
            <a:ext cx="2596761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现在｜AI辅助的轻量试点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81022" y="2935250"/>
            <a:ext cx="1618404" cy="932639"/>
          </a:xfrm>
          <a:prstGeom prst="roundRect">
            <a:avLst>
              <a:gd name="adj" fmla="val 11765"/>
            </a:avLst>
          </a:prstGeom>
          <a:solidFill>
            <a:srgbClr val="F1F7F6"/>
          </a:solidFill>
          <a:ln w="12700">
            <a:solidFill>
              <a:srgbClr val="F1F7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457" y="3054116"/>
            <a:ext cx="1435533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AI提取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235883" y="3447287"/>
            <a:ext cx="1499538" cy="2011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跨邮件/表格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08569" y="3191268"/>
            <a:ext cx="320023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09727" y="2935250"/>
            <a:ext cx="1618404" cy="932639"/>
          </a:xfrm>
          <a:prstGeom prst="roundRect">
            <a:avLst>
              <a:gd name="adj" fmla="val 11765"/>
            </a:avLst>
          </a:prstGeom>
          <a:solidFill>
            <a:srgbClr val="EAF3FB"/>
          </a:solidFill>
          <a:ln w="12700">
            <a:solidFill>
              <a:srgbClr val="EAF3F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1162" y="3054116"/>
            <a:ext cx="1435533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23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规则核验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064588" y="3447287"/>
            <a:ext cx="1499538" cy="2011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字段/单位/版本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37274" y="3191268"/>
            <a:ext cx="320023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838432" y="2935250"/>
            <a:ext cx="1618404" cy="932639"/>
          </a:xfrm>
          <a:prstGeom prst="roundRect">
            <a:avLst>
              <a:gd name="adj" fmla="val 11765"/>
            </a:avLst>
          </a:prstGeom>
          <a:solidFill>
            <a:srgbClr val="F1F7F6"/>
          </a:solidFill>
          <a:ln w="12700">
            <a:solidFill>
              <a:srgbClr val="F1F7F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9867" y="3054116"/>
            <a:ext cx="1435533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人工审批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893293" y="3447287"/>
            <a:ext cx="1499538" cy="2011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明确责任边界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99309" y="4096477"/>
            <a:ext cx="5120373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不自动承诺技术正确；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99309" y="4462218"/>
            <a:ext cx="5047225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优先降低资料处理、适配与试错成本。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484607" y="5248561"/>
            <a:ext cx="11200817" cy="941783"/>
          </a:xfrm>
          <a:prstGeom prst="roundRect">
            <a:avLst>
              <a:gd name="adj" fmla="val 15534"/>
            </a:avLst>
          </a:prstGeom>
          <a:solidFill>
            <a:srgbClr val="14233A"/>
          </a:solidFill>
          <a:ln w="12700">
            <a:solidFill>
              <a:srgbClr val="14233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195" y="5486293"/>
            <a:ext cx="100579" cy="475463"/>
          </a:xfrm>
          <a:prstGeom prst="roundRect">
            <a:avLst>
              <a:gd name="adj" fmla="val 45455"/>
            </a:avLst>
          </a:prstGeom>
          <a:solidFill>
            <a:srgbClr val="E49B42"/>
          </a:solidFill>
          <a:ln w="12700">
            <a:solidFill>
              <a:srgbClr val="E49B4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39" y="5413145"/>
            <a:ext cx="1325811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8CE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创始人判断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322455" y="5358284"/>
            <a:ext cx="9052089" cy="539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不做“什么都能干的AI”；先找高频、可验收、责任边界清晰的工业流程。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60" y="283628"/>
            <a:ext cx="6400467" cy="2103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业务流程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60" y="612795"/>
            <a:ext cx="10972229" cy="4480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最小业务场景：正式报价前的技术资料核验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30903" y="1124832"/>
            <a:ext cx="10953941" cy="38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读懂要求、找出差异、交给人批准；不替代最终工程判断。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7477" y="2148907"/>
            <a:ext cx="1700695" cy="1828705"/>
          </a:xfrm>
          <a:prstGeom prst="roundRect">
            <a:avLst>
              <a:gd name="adj" fmla="val 6452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35" y="2322634"/>
            <a:ext cx="557755" cy="228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487" y="2734092"/>
            <a:ext cx="1453820" cy="402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客户询盘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12" y="3273560"/>
            <a:ext cx="1517825" cy="329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邮件 / PDF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316" y="2944393"/>
            <a:ext cx="228588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05904" y="2148907"/>
            <a:ext cx="1700695" cy="1828705"/>
          </a:xfrm>
          <a:prstGeom prst="roundRect">
            <a:avLst>
              <a:gd name="adj" fmla="val 6452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062" y="2322634"/>
            <a:ext cx="557755" cy="228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33914" y="2734092"/>
            <a:ext cx="1453820" cy="402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内部规格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340" y="3273560"/>
            <a:ext cx="1517825" cy="329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Excel / 图纸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15743" y="2944393"/>
            <a:ext cx="228588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44331" y="2148907"/>
            <a:ext cx="1700695" cy="1828705"/>
          </a:xfrm>
          <a:prstGeom prst="roundRect">
            <a:avLst>
              <a:gd name="adj" fmla="val 6452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489" y="2322634"/>
            <a:ext cx="557755" cy="228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72341" y="2734092"/>
            <a:ext cx="1453820" cy="402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权威版本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35767" y="3273560"/>
            <a:ext cx="1517825" cy="329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批准记录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170" y="2944393"/>
            <a:ext cx="228588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82758" y="2148907"/>
            <a:ext cx="1700695" cy="1828705"/>
          </a:xfrm>
          <a:prstGeom prst="roundRect">
            <a:avLst>
              <a:gd name="adj" fmla="val 6452"/>
            </a:avLst>
          </a:prstGeom>
          <a:solidFill>
            <a:srgbClr val="1A3048"/>
          </a:solidFill>
          <a:ln w="12700">
            <a:solidFill>
              <a:srgbClr val="24B6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3916" y="2322634"/>
            <a:ext cx="557755" cy="228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10768" y="2734092"/>
            <a:ext cx="1453820" cy="402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核验引擎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74194" y="3273560"/>
            <a:ext cx="1517825" cy="329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 / 比对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92597" y="2944393"/>
            <a:ext cx="228588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421185" y="2148907"/>
            <a:ext cx="1700695" cy="1828705"/>
          </a:xfrm>
          <a:prstGeom prst="roundRect">
            <a:avLst>
              <a:gd name="adj" fmla="val 6452"/>
            </a:avLst>
          </a:prstGeom>
          <a:solidFill>
            <a:srgbClr val="1A3048"/>
          </a:solidFill>
          <a:ln w="12700">
            <a:solidFill>
              <a:srgbClr val="24B6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2343" y="2322634"/>
            <a:ext cx="557755" cy="228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195" y="2734092"/>
            <a:ext cx="1453820" cy="402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异常清单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12621" y="3273560"/>
            <a:ext cx="1517825" cy="329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 / 差异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31024" y="2944393"/>
            <a:ext cx="228588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0359612" y="2148907"/>
            <a:ext cx="1700695" cy="1828705"/>
          </a:xfrm>
          <a:prstGeom prst="roundRect">
            <a:avLst>
              <a:gd name="adj" fmla="val 6452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60770" y="2322634"/>
            <a:ext cx="557755" cy="228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87622" y="2734092"/>
            <a:ext cx="1453820" cy="402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人工放行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451048" y="3273560"/>
            <a:ext cx="1517825" cy="329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审核 / 留痕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070" y="4434788"/>
            <a:ext cx="10259034" cy="768056"/>
          </a:xfrm>
          <a:prstGeom prst="roundRect">
            <a:avLst>
              <a:gd name="adj" fmla="val 14286"/>
            </a:avLst>
          </a:prstGeom>
          <a:solidFill>
            <a:srgbClr val="1A3048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2940" y="4645089"/>
            <a:ext cx="9875006" cy="33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输出：可追溯的差异报告 + 人工审批记录 + 对外回复参考，不自动出具正式报价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0903" y="5970900"/>
            <a:ext cx="10917367" cy="365741"/>
          </a:xfrm>
          <a:prstGeom prst="roundRect">
            <a:avLst>
              <a:gd name="adj" fmla="val 30000"/>
            </a:avLst>
          </a:prstGeom>
          <a:solidFill>
            <a:srgbClr val="1A3048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17" y="5998330"/>
            <a:ext cx="10551626" cy="237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核心不是“生成更快”，而是让一项业务判断有出处、有边界、有人承担最终审批。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275" y="6510368"/>
            <a:ext cx="799958" cy="29998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0849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943f374ad379c6150b26c8e21a9775d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470" y="0"/>
            <a:ext cx="92424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16B68"/>
                </a:solidFill>
                <a:latin typeface="微软雅黑"/>
              </a:rPr>
              <a:t>04 / PRODUCT WORKFLOW</a:t>
            </a:r>
            <a:endParaRPr sz="900" b="1" i="0">
              <a:solidFill>
                <a:srgbClr val="116B68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32238"/>
                </a:solidFill>
                <a:latin typeface="微软雅黑"/>
              </a:rPr>
              <a:t>我们要交付的不是一个 AI 聊天框，而是一条可核验的工作流</a:t>
            </a:r>
            <a:endParaRPr sz="25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</a:rPr>
              <a:t>把模型的提取能力放进有来源、有规则、有人工确认、有记录的业务流程。</a:t>
            </a:r>
            <a:endParaRPr sz="11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2176272"/>
            <a:ext cx="141732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98C88"/>
                </a:solidFill>
                <a:latin typeface="微软雅黑"/>
              </a:rPr>
              <a:t>01</a:t>
            </a:r>
            <a:endParaRPr sz="900" b="1" i="0">
              <a:solidFill>
                <a:srgbClr val="198C8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4088" y="2624328"/>
            <a:ext cx="11978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2238"/>
                </a:solidFill>
                <a:latin typeface="微软雅黑"/>
              </a:rPr>
              <a:t>接收资料</a:t>
            </a:r>
            <a:endParaRPr sz="13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3017520"/>
            <a:ext cx="119786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询盘邮件</a:t>
            </a:r>
            <a:endParaRPr sz="950" b="0" i="0">
              <a:solidFill>
                <a:srgbClr val="243244"/>
              </a:solidFill>
              <a:latin typeface="微软雅黑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规格表 / 附件</a:t>
            </a:r>
            <a:endParaRPr sz="950" b="0" i="0">
              <a:solidFill>
                <a:srgbClr val="243244"/>
              </a:solidFill>
              <a:latin typeface="微软雅黑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029968" y="2962656"/>
            <a:ext cx="374904" cy="0"/>
          </a:xfrm>
          <a:prstGeom prst="line">
            <a:avLst/>
          </a:prstGeom>
          <a:ln w="20320">
            <a:solidFill>
              <a:srgbClr val="19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4600" y="2176272"/>
            <a:ext cx="141732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233172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98C88"/>
                </a:solidFill>
                <a:latin typeface="微软雅黑"/>
              </a:rPr>
              <a:t>02</a:t>
            </a:r>
            <a:endParaRPr sz="900" b="1" i="0">
              <a:solidFill>
                <a:srgbClr val="198C88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24328" y="2624328"/>
            <a:ext cx="11978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2238"/>
                </a:solidFill>
                <a:latin typeface="微软雅黑"/>
              </a:rPr>
              <a:t>结构化提取</a:t>
            </a:r>
            <a:endParaRPr sz="13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4328" y="3017520"/>
            <a:ext cx="119786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型号、流量、扬程</a:t>
            </a:r>
            <a:endParaRPr sz="950" b="0" i="0">
              <a:solidFill>
                <a:srgbClr val="243244"/>
              </a:solidFill>
              <a:latin typeface="微软雅黑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单位、工况</a:t>
            </a:r>
            <a:endParaRPr sz="950" b="0" i="0">
              <a:solidFill>
                <a:srgbClr val="243244"/>
              </a:solidFill>
              <a:latin typeface="微软雅黑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3950208" y="2962656"/>
            <a:ext cx="374904" cy="0"/>
          </a:xfrm>
          <a:prstGeom prst="line">
            <a:avLst/>
          </a:prstGeom>
          <a:ln w="20320">
            <a:solidFill>
              <a:srgbClr val="19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2176272"/>
            <a:ext cx="1417320" cy="1609344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33172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98C88"/>
                </a:solidFill>
                <a:latin typeface="微软雅黑"/>
              </a:rPr>
              <a:t>03</a:t>
            </a:r>
            <a:endParaRPr sz="900" b="1" i="0">
              <a:solidFill>
                <a:srgbClr val="198C88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44568" y="2624328"/>
            <a:ext cx="11978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2238"/>
                </a:solidFill>
                <a:latin typeface="微软雅黑"/>
              </a:rPr>
              <a:t>交叉核对</a:t>
            </a:r>
            <a:endParaRPr sz="13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44568" y="3017520"/>
            <a:ext cx="119786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字段统一</a:t>
            </a:r>
            <a:endParaRPr sz="950" b="0" i="0">
              <a:solidFill>
                <a:srgbClr val="243244"/>
              </a:solidFill>
              <a:latin typeface="微软雅黑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冲突 / 缺项识别</a:t>
            </a:r>
            <a:endParaRPr sz="950" b="0" i="0">
              <a:solidFill>
                <a:srgbClr val="243244"/>
              </a:solidFill>
              <a:latin typeface="微软雅黑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870448" y="2962656"/>
            <a:ext cx="374904" cy="0"/>
          </a:xfrm>
          <a:prstGeom prst="line">
            <a:avLst/>
          </a:prstGeom>
          <a:ln w="20320">
            <a:solidFill>
              <a:srgbClr val="19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55080" y="2176272"/>
            <a:ext cx="141732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33172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98C88"/>
                </a:solidFill>
                <a:latin typeface="微软雅黑"/>
              </a:rPr>
              <a:t>04</a:t>
            </a:r>
            <a:endParaRPr sz="900" b="1" i="0">
              <a:solidFill>
                <a:srgbClr val="198C88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64808" y="2624328"/>
            <a:ext cx="11978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2238"/>
                </a:solidFill>
                <a:latin typeface="微软雅黑"/>
              </a:rPr>
              <a:t>证据定位</a:t>
            </a:r>
            <a:endParaRPr sz="13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64808" y="3017520"/>
            <a:ext cx="119786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指出原文位置</a:t>
            </a:r>
            <a:endParaRPr sz="950" b="0" i="0">
              <a:solidFill>
                <a:srgbClr val="243244"/>
              </a:solidFill>
              <a:latin typeface="微软雅黑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记录来源版本</a:t>
            </a:r>
            <a:endParaRPr sz="950" b="0" i="0">
              <a:solidFill>
                <a:srgbClr val="243244"/>
              </a:solidFill>
              <a:latin typeface="微软雅黑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7790688" y="2962656"/>
            <a:ext cx="374904" cy="0"/>
          </a:xfrm>
          <a:prstGeom prst="line">
            <a:avLst/>
          </a:prstGeom>
          <a:ln w="20320">
            <a:solidFill>
              <a:srgbClr val="19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75320" y="2176272"/>
            <a:ext cx="1417320" cy="1609344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233172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98C88"/>
                </a:solidFill>
                <a:latin typeface="微软雅黑"/>
              </a:rPr>
              <a:t>05</a:t>
            </a:r>
            <a:endParaRPr sz="900" b="1" i="0">
              <a:solidFill>
                <a:srgbClr val="198C88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85048" y="2624328"/>
            <a:ext cx="11978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2238"/>
                </a:solidFill>
                <a:latin typeface="微软雅黑"/>
              </a:rPr>
              <a:t>人工判断</a:t>
            </a:r>
            <a:endParaRPr sz="13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85048" y="3017520"/>
            <a:ext cx="119786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PASS / REVIEW</a:t>
            </a:r>
            <a:endParaRPr sz="950" b="0" i="0">
              <a:solidFill>
                <a:srgbClr val="243244"/>
              </a:solidFill>
              <a:latin typeface="微软雅黑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/BLOCK 建议</a:t>
            </a:r>
            <a:endParaRPr sz="950" b="0" i="0">
              <a:solidFill>
                <a:srgbClr val="243244"/>
              </a:solidFill>
              <a:latin typeface="微软雅黑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9710928" y="2962656"/>
            <a:ext cx="374904" cy="0"/>
          </a:xfrm>
          <a:prstGeom prst="line">
            <a:avLst/>
          </a:prstGeom>
          <a:ln w="20320">
            <a:solidFill>
              <a:srgbClr val="19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95560" y="2176272"/>
            <a:ext cx="141732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14432" y="2331720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98C88"/>
                </a:solidFill>
                <a:latin typeface="微软雅黑"/>
              </a:rPr>
              <a:t>06</a:t>
            </a:r>
            <a:endParaRPr sz="900" b="1" i="0">
              <a:solidFill>
                <a:srgbClr val="198C88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305288" y="2624328"/>
            <a:ext cx="11978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2238"/>
                </a:solidFill>
                <a:latin typeface="微软雅黑"/>
              </a:rPr>
              <a:t>形成记录</a:t>
            </a:r>
            <a:endParaRPr sz="13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305288" y="3017520"/>
            <a:ext cx="1197864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差异清单</a:t>
            </a:r>
            <a:endParaRPr sz="950" b="0" i="0">
              <a:solidFill>
                <a:srgbClr val="243244"/>
              </a:solidFill>
              <a:latin typeface="微软雅黑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复核与审批痕迹</a:t>
            </a:r>
            <a:endParaRPr sz="9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13232" y="4251960"/>
            <a:ext cx="4892040" cy="1143000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F0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42569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88B3D"/>
                </a:solidFill>
                <a:latin typeface="微软雅黑"/>
              </a:rPr>
              <a:t>演示样例：85 m³/h vs 58 m³/h</a:t>
            </a:r>
            <a:endParaRPr sz="1500" b="1" i="0">
              <a:solidFill>
                <a:srgbClr val="D88B3D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2688" y="4800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3244"/>
                </a:solidFill>
                <a:latin typeface="微软雅黑"/>
              </a:rPr>
              <a:t>合成教学数据：系统提示来源冲突，要求人工确认，不自动猜测哪个数正确。</a:t>
            </a:r>
            <a:endParaRPr sz="10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870448" y="4251960"/>
            <a:ext cx="5577840" cy="114300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425696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明确的产品边界</a:t>
            </a:r>
            <a:endParaRPr sz="15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26480" y="4800600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DCE6EF"/>
                </a:solidFill>
                <a:latin typeface="微软雅黑"/>
              </a:rPr>
              <a:t>辅助核验与审批；不自动发正式报价、不擅自放行、不宣称 ERP 写回或生产级 READY。</a:t>
            </a:r>
            <a:endParaRPr sz="1050" b="0" i="0">
              <a:solidFill>
                <a:srgbClr val="DCE6EF"/>
              </a:solidFill>
              <a:latin typeface="微软雅黑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55624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748B"/>
                </a:solidFill>
                <a:latin typeface="微软雅黑"/>
              </a:rPr>
              <a:t>HOULAI STUDIO  /  猴来工作室</a:t>
            </a:r>
            <a:endParaRPr sz="8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561320" y="654710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748B"/>
                </a:solidFill>
                <a:latin typeface="微软雅黑"/>
              </a:rPr>
              <a:t>主讲  05</a:t>
            </a:r>
            <a:endParaRPr sz="800" b="0" i="0">
              <a:solidFill>
                <a:srgbClr val="64748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47E78"/>
                </a:solidFill>
                <a:latin typeface="微软雅黑"/>
              </a:rPr>
              <a:t>HOULAI STUDIO  /  技术链路</a:t>
            </a:r>
            <a:endParaRPr sz="900" b="1" i="0">
              <a:solidFill>
                <a:srgbClr val="247E78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17263D"/>
                </a:solidFill>
                <a:latin typeface="微软雅黑"/>
              </a:rPr>
              <a:t>把模型放进证据与规则门禁，而不是让模型直接决定业务结果</a:t>
            </a:r>
            <a:endParaRPr sz="2500" b="1" i="0">
              <a:solidFill>
                <a:srgbClr val="17263D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37187"/>
                </a:solidFill>
                <a:latin typeface="微软雅黑"/>
              </a:rPr>
              <a:t>可复用方向：结构化提取 → Schema 验收 → 来源核对 → 业务规则 → 人工确认。</a:t>
            </a:r>
            <a:endParaRPr sz="1100" b="0" i="0">
              <a:solidFill>
                <a:srgbClr val="637187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37187"/>
                </a:solidFill>
                <a:latin typeface="微软雅黑"/>
              </a:rPr>
              <a:t>05</a:t>
            </a:r>
            <a:endParaRPr sz="1000" b="1" i="0">
              <a:solidFill>
                <a:srgbClr val="637187"/>
              </a:solidFill>
              <a:latin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202996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2376" y="2029968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17263D"/>
          </a:solidFill>
          <a:ln w="1016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52828"/>
            <a:ext cx="420624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01</a:t>
            </a:r>
            <a:endParaRPr sz="9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2376" y="2450592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7263D"/>
                </a:solidFill>
                <a:latin typeface="微软雅黑"/>
              </a:rPr>
              <a:t>输入资料</a:t>
            </a:r>
            <a:endParaRPr sz="1400" b="1" i="0">
              <a:solidFill>
                <a:srgbClr val="17263D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2376" y="2834640"/>
            <a:ext cx="1755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43247"/>
                </a:solidFill>
                <a:latin typeface="微软雅黑"/>
              </a:rPr>
              <a:t>合成询盘 / 附件</a:t>
            </a:r>
            <a:endParaRPr sz="1000"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22376" y="3364992"/>
            <a:ext cx="1719072" cy="228600"/>
          </a:xfrm>
          <a:prstGeom prst="roundRect">
            <a:avLst>
              <a:gd name="adj" fmla="val 12000"/>
            </a:avLst>
          </a:prstGeom>
          <a:solidFill>
            <a:srgbClr val="E5F3F0"/>
          </a:solidFill>
          <a:ln w="10160">
            <a:solidFill>
              <a:srgbClr val="E5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83280"/>
            <a:ext cx="166420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47E78"/>
                </a:solidFill>
                <a:latin typeface="微软雅黑"/>
              </a:rPr>
              <a:t>资料片段</a:t>
            </a:r>
            <a:endParaRPr sz="900" b="1" i="0">
              <a:solidFill>
                <a:srgbClr val="247E78"/>
              </a:solidFill>
              <a:latin typeface="微软雅黑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624328" y="2788920"/>
            <a:ext cx="219456" cy="0"/>
          </a:xfrm>
          <a:prstGeom prst="line">
            <a:avLst/>
          </a:prstGeom>
          <a:ln w="19050">
            <a:solidFill>
              <a:srgbClr val="24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98648" y="1874519"/>
            <a:ext cx="202996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54096" y="2029968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17263D"/>
          </a:solidFill>
          <a:ln w="1016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7" y="2052828"/>
            <a:ext cx="420624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02</a:t>
            </a:r>
            <a:endParaRPr sz="9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54096" y="2450592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7263D"/>
                </a:solidFill>
                <a:latin typeface="微软雅黑"/>
              </a:rPr>
              <a:t>AI 提取</a:t>
            </a:r>
            <a:endParaRPr sz="1400" b="1" i="0">
              <a:solidFill>
                <a:srgbClr val="17263D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54096" y="2834640"/>
            <a:ext cx="1755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43247"/>
                </a:solidFill>
                <a:latin typeface="微软雅黑"/>
              </a:rPr>
              <a:t>字段 / 数值 / 单位</a:t>
            </a:r>
            <a:endParaRPr sz="1000"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54096" y="3364992"/>
            <a:ext cx="1719072" cy="228600"/>
          </a:xfrm>
          <a:prstGeom prst="roundRect">
            <a:avLst>
              <a:gd name="adj" fmla="val 12000"/>
            </a:avLst>
          </a:prstGeom>
          <a:solidFill>
            <a:srgbClr val="E5F3F0"/>
          </a:solidFill>
          <a:ln w="10160">
            <a:solidFill>
              <a:srgbClr val="E5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81528" y="3383280"/>
            <a:ext cx="166420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47E78"/>
                </a:solidFill>
                <a:latin typeface="微软雅黑"/>
              </a:rPr>
              <a:t>不可信候选</a:t>
            </a:r>
            <a:endParaRPr sz="900" b="1" i="0">
              <a:solidFill>
                <a:srgbClr val="247E78"/>
              </a:solidFill>
              <a:latin typeface="微软雅黑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956048" y="2788920"/>
            <a:ext cx="219456" cy="0"/>
          </a:xfrm>
          <a:prstGeom prst="line">
            <a:avLst/>
          </a:prstGeom>
          <a:ln w="19050">
            <a:solidFill>
              <a:srgbClr val="24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30368" y="1874519"/>
            <a:ext cx="202996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85816" y="2029968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17263D"/>
          </a:solidFill>
          <a:ln w="1016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8" y="2052828"/>
            <a:ext cx="420624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03</a:t>
            </a:r>
            <a:endParaRPr sz="9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85816" y="2450592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7263D"/>
                </a:solidFill>
                <a:latin typeface="微软雅黑"/>
              </a:rPr>
              <a:t>Schema + 来源</a:t>
            </a:r>
            <a:endParaRPr sz="1400" b="1" i="0">
              <a:solidFill>
                <a:srgbClr val="17263D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85816" y="2834640"/>
            <a:ext cx="1755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43247"/>
                </a:solidFill>
                <a:latin typeface="微软雅黑"/>
              </a:rPr>
              <a:t>字段结构 / DOC / SEG / quote</a:t>
            </a:r>
            <a:endParaRPr sz="1000"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85816" y="3364992"/>
            <a:ext cx="1719072" cy="228600"/>
          </a:xfrm>
          <a:prstGeom prst="roundRect">
            <a:avLst>
              <a:gd name="adj" fmla="val 12000"/>
            </a:avLst>
          </a:prstGeom>
          <a:solidFill>
            <a:srgbClr val="E5F3F0"/>
          </a:solidFill>
          <a:ln w="10160">
            <a:solidFill>
              <a:srgbClr val="E5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3248" y="3383280"/>
            <a:ext cx="166420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47E78"/>
                </a:solidFill>
                <a:latin typeface="微软雅黑"/>
              </a:rPr>
              <a:t>证据校验</a:t>
            </a:r>
            <a:endParaRPr sz="900" b="1" i="0">
              <a:solidFill>
                <a:srgbClr val="247E78"/>
              </a:solidFill>
              <a:latin typeface="微软雅黑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7287768" y="2788920"/>
            <a:ext cx="219456" cy="0"/>
          </a:xfrm>
          <a:prstGeom prst="line">
            <a:avLst/>
          </a:prstGeom>
          <a:ln w="19050">
            <a:solidFill>
              <a:srgbClr val="24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562088" y="1874519"/>
            <a:ext cx="202996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17536" y="2029968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17263D"/>
          </a:solidFill>
          <a:ln w="1016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44967" y="2052828"/>
            <a:ext cx="420624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04</a:t>
            </a:r>
            <a:endParaRPr sz="9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17536" y="2450592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7263D"/>
                </a:solidFill>
                <a:latin typeface="微软雅黑"/>
              </a:rPr>
              <a:t>A3 规则层</a:t>
            </a:r>
            <a:endParaRPr sz="1400" b="1" i="0">
              <a:solidFill>
                <a:srgbClr val="17263D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17536" y="2834640"/>
            <a:ext cx="1755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43247"/>
                </a:solidFill>
                <a:latin typeface="微软雅黑"/>
              </a:rPr>
              <a:t>冲突 / 缺项 / 放行状态</a:t>
            </a:r>
            <a:endParaRPr sz="1000"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17536" y="3364992"/>
            <a:ext cx="1719072" cy="228600"/>
          </a:xfrm>
          <a:prstGeom prst="roundRect">
            <a:avLst>
              <a:gd name="adj" fmla="val 12000"/>
            </a:avLst>
          </a:prstGeom>
          <a:solidFill>
            <a:srgbClr val="E5F3F0"/>
          </a:solidFill>
          <a:ln w="10160">
            <a:solidFill>
              <a:srgbClr val="E5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4967" y="3383280"/>
            <a:ext cx="166420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47E78"/>
                </a:solidFill>
                <a:latin typeface="微软雅黑"/>
              </a:rPr>
              <a:t>规则结论</a:t>
            </a:r>
            <a:endParaRPr sz="900" b="1" i="0">
              <a:solidFill>
                <a:srgbClr val="247E78"/>
              </a:solidFill>
              <a:latin typeface="微软雅黑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9619488" y="2788920"/>
            <a:ext cx="219456" cy="0"/>
          </a:xfrm>
          <a:prstGeom prst="line">
            <a:avLst/>
          </a:prstGeom>
          <a:ln w="19050">
            <a:solidFill>
              <a:srgbClr val="24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93807" y="1874519"/>
            <a:ext cx="202996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49255" y="2029968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17263D"/>
          </a:solidFill>
          <a:ln w="10160">
            <a:solidFill>
              <a:srgbClr val="17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7" y="2052828"/>
            <a:ext cx="420624" cy="2103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微软雅黑"/>
              </a:rPr>
              <a:t>05</a:t>
            </a:r>
            <a:endParaRPr sz="9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049255" y="2450592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7263D"/>
                </a:solidFill>
                <a:latin typeface="微软雅黑"/>
              </a:rPr>
              <a:t>人工处理</a:t>
            </a:r>
            <a:endParaRPr sz="1400" b="1" i="0">
              <a:solidFill>
                <a:srgbClr val="17263D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49255" y="2834640"/>
            <a:ext cx="17556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43247"/>
                </a:solidFill>
                <a:latin typeface="微软雅黑"/>
              </a:rPr>
              <a:t>复核 / 澄清 / 审计</a:t>
            </a:r>
            <a:endParaRPr sz="1000"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0049255" y="3364992"/>
            <a:ext cx="1719072" cy="228600"/>
          </a:xfrm>
          <a:prstGeom prst="roundRect">
            <a:avLst>
              <a:gd name="adj" fmla="val 12000"/>
            </a:avLst>
          </a:prstGeom>
          <a:solidFill>
            <a:srgbClr val="E5F3F0"/>
          </a:solidFill>
          <a:ln w="10160">
            <a:solidFill>
              <a:srgbClr val="E5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76687" y="3383280"/>
            <a:ext cx="166420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47E78"/>
                </a:solidFill>
                <a:latin typeface="微软雅黑"/>
              </a:rPr>
              <a:t>责任留痕</a:t>
            </a:r>
            <a:endParaRPr sz="900" b="1" i="0">
              <a:solidFill>
                <a:srgbClr val="247E78"/>
              </a:solidFill>
              <a:latin typeface="微软雅黑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21792" y="425196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" y="4251960"/>
            <a:ext cx="64008" cy="1143000"/>
          </a:xfrm>
          <a:prstGeom prst="rect">
            <a:avLst/>
          </a:prstGeom>
          <a:solidFill>
            <a:srgbClr val="D98A4B"/>
          </a:solidFill>
          <a:ln w="10160">
            <a:solidFill>
              <a:srgbClr val="D9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40740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7263D"/>
                </a:solidFill>
                <a:latin typeface="微软雅黑"/>
              </a:rPr>
              <a:t>模型不可信任</a:t>
            </a:r>
            <a:endParaRPr sz="1200" b="1" i="0">
              <a:solidFill>
                <a:srgbClr val="17263D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2960" y="4782312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43247"/>
                </a:solidFill>
                <a:latin typeface="微软雅黑"/>
              </a:rPr>
              <a:t>输出必须先通过结构和来源校验。</a:t>
            </a:r>
            <a:endParaRPr sz="1000"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370832" y="425196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70832" y="4251960"/>
            <a:ext cx="64008" cy="1143000"/>
          </a:xfrm>
          <a:prstGeom prst="rect">
            <a:avLst/>
          </a:prstGeom>
          <a:solidFill>
            <a:srgbClr val="B95045"/>
          </a:solidFill>
          <a:ln w="10160">
            <a:solidFill>
              <a:srgbClr val="B95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440740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7263D"/>
                </a:solidFill>
                <a:latin typeface="微软雅黑"/>
              </a:rPr>
              <a:t>规则不等于批准</a:t>
            </a:r>
            <a:endParaRPr sz="1200" b="1" i="0">
              <a:solidFill>
                <a:srgbClr val="17263D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572000" y="4782312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43247"/>
                </a:solidFill>
                <a:latin typeface="微软雅黑"/>
              </a:rPr>
              <a:t>发现冲突后给出 REVIEW / BLOCK。</a:t>
            </a:r>
            <a:endParaRPr sz="1000"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119872" y="425196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19872" y="4251960"/>
            <a:ext cx="64008" cy="1143000"/>
          </a:xfrm>
          <a:prstGeom prst="rect">
            <a:avLst/>
          </a:prstGeom>
          <a:solidFill>
            <a:srgbClr val="247E78"/>
          </a:solidFill>
          <a:ln w="10160">
            <a:solidFill>
              <a:srgbClr val="24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440740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7263D"/>
                </a:solidFill>
                <a:latin typeface="微软雅黑"/>
              </a:rPr>
              <a:t>人负责最终决定</a:t>
            </a:r>
            <a:endParaRPr sz="1200" b="1" i="0">
              <a:solidFill>
                <a:srgbClr val="17263D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321040" y="4782312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43247"/>
                </a:solidFill>
                <a:latin typeface="微软雅黑"/>
              </a:rPr>
              <a:t>不自动发送报价，不写入外部业务系统。</a:t>
            </a:r>
            <a:endParaRPr sz="1000"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02920" y="6519672"/>
            <a:ext cx="1117396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637187"/>
                </a:solidFill>
                <a:latin typeface="微软雅黑"/>
              </a:rPr>
              <a:t>临港 OPC 双选会｜开发进展与商业验证</a:t>
            </a:r>
            <a:endParaRPr sz="800" b="0" i="0">
              <a:solidFill>
                <a:srgbClr val="637187"/>
              </a:solidFill>
              <a:latin typeface="微软雅黑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018520" y="6556248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637187"/>
                </a:solidFill>
                <a:latin typeface="微软雅黑"/>
              </a:rPr>
              <a:t>05</a:t>
            </a:r>
            <a:endParaRPr sz="800" b="0" i="0">
              <a:solidFill>
                <a:srgbClr val="63718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722c6de91d5483b964db5d2f4dc5005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0035" y="0"/>
            <a:ext cx="6948805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36055" y="730885"/>
            <a:ext cx="6659245" cy="61271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16a6ff4f29db5ab4851e8fe3565489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285" y="0"/>
            <a:ext cx="111867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16B68"/>
                </a:solidFill>
                <a:latin typeface="微软雅黑"/>
              </a:rPr>
              <a:t>01 / FOUNDER DECISIONS</a:t>
            </a:r>
            <a:endParaRPr sz="900" b="1" i="0">
              <a:solidFill>
                <a:srgbClr val="116B68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32238"/>
                </a:solidFill>
                <a:latin typeface="微软雅黑"/>
              </a:rPr>
              <a:t>经营不是不停做工具，而是持续做取舍</a:t>
            </a:r>
            <a:endParaRPr sz="25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</a:rPr>
              <a:t>AI 可以给出方案；是否值得做，要看进入成本、付费意愿、风险和可复用性。</a:t>
            </a:r>
            <a:endParaRPr sz="11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38528"/>
            <a:ext cx="54864" cy="3026663"/>
          </a:xfrm>
          <a:prstGeom prst="rect">
            <a:avLst/>
          </a:prstGeom>
          <a:solidFill>
            <a:srgbClr val="D8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7510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D88B3D"/>
                </a:solidFill>
                <a:latin typeface="微软雅黑"/>
              </a:rPr>
              <a:t>可做 ≠ 值得长期投入</a:t>
            </a:r>
            <a:endParaRPr sz="850" b="1" i="0">
              <a:solidFill>
                <a:srgbClr val="D88B3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31363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32238"/>
                </a:solidFill>
                <a:latin typeface="微软雅黑"/>
              </a:rPr>
              <a:t>方向 A｜通用办公自动化</a:t>
            </a:r>
            <a:endParaRPr sz="15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3136392" cy="199009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AI 建议：邮件整理、Excel 核对、简单工作流。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商业盲点：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• Codex 能快速生成不少基础功能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• 客户可能自己做，替代品多</a:t>
            </a:r>
            <a:r>
              <a:rPr lang="zh-CN" sz="1150" b="0" i="0">
                <a:solidFill>
                  <a:srgbClr val="243244"/>
                </a:solidFill>
                <a:latin typeface="微软雅黑"/>
              </a:rPr>
              <a:t>，阿里竞品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• 单次省时不等于愿意持续付费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经营决定：可作为获客入口，不直接当长期核心产品。</a:t>
            </a:r>
            <a:endParaRPr sz="11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38528"/>
            <a:ext cx="54864" cy="3026663"/>
          </a:xfrm>
          <a:prstGeom prst="rect">
            <a:avLst/>
          </a:prstGeom>
          <a:solidFill>
            <a:srgbClr val="B9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7510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B9534B"/>
                </a:solidFill>
                <a:latin typeface="微软雅黑"/>
              </a:rPr>
              <a:t>两端都存在进入障碍</a:t>
            </a:r>
            <a:endParaRPr sz="850" b="1" i="0">
              <a:solidFill>
                <a:srgbClr val="B9534B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2221992"/>
            <a:ext cx="31363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32238"/>
                </a:solidFill>
                <a:latin typeface="微软雅黑"/>
              </a:rPr>
              <a:t>方向 B｜泛化企业 AI 改造</a:t>
            </a:r>
            <a:endParaRPr sz="15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44568" y="2660904"/>
            <a:ext cx="3136392" cy="232257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现场观察：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• 小型工厂的痛点强度可能不足，节省时间尚未量化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• 大型企业的采购、信息安全和系统集成门槛更高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• 从 Demo 到生产部署，中间还有责任与验收问题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经营决定：不把“有技术能力”误当“市场已成立”。</a:t>
            </a:r>
            <a:endParaRPr sz="11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65008" y="1828800"/>
            <a:ext cx="3520440" cy="3246120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938528"/>
            <a:ext cx="54864" cy="3026663"/>
          </a:xfrm>
          <a:prstGeom prst="rect">
            <a:avLst/>
          </a:prstGeom>
          <a:solidFill>
            <a:srgbClr val="19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975104"/>
            <a:ext cx="31363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98C88"/>
                </a:solidFill>
                <a:latin typeface="微软雅黑"/>
              </a:rPr>
              <a:t>更窄，但更可验证</a:t>
            </a:r>
            <a:endParaRPr sz="850" b="1" i="0">
              <a:solidFill>
                <a:srgbClr val="198C88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66176" y="2221992"/>
            <a:ext cx="31363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32238"/>
                </a:solidFill>
                <a:latin typeface="微软雅黑"/>
              </a:rPr>
              <a:t>当前聚焦｜报价前工业核验</a:t>
            </a:r>
            <a:endParaRPr sz="15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66176" y="2660904"/>
            <a:ext cx="3136392" cy="232257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优先验证：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• 询盘、规格表、技术附件之间的参数冲突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• 权威版本与适用工况核对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• 人工审批、证据留痕与可追责结果</a:t>
            </a:r>
            <a:endParaRPr sz="11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43244"/>
                </a:solidFill>
                <a:latin typeface="微软雅黑"/>
              </a:rPr>
              <a:t>经营假设：错误成本和责任要求可能更明确；仍需第二、第三家客户验证。</a:t>
            </a:r>
            <a:endParaRPr sz="11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5367528"/>
            <a:ext cx="10927080" cy="61264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52297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</a:rPr>
              <a:t>关键判断：不是说通用自动化没有市场，而是猴来不能把“容易做出来”误判成“能形成长期优势”。</a:t>
            </a:r>
            <a:endParaRPr sz="130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5624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748B"/>
                </a:solidFill>
                <a:latin typeface="微软雅黑"/>
              </a:rPr>
              <a:t>HOULAI STUDIO  /  猴来工作室</a:t>
            </a:r>
            <a:endParaRPr sz="8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61320" y="654710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748B"/>
                </a:solidFill>
                <a:latin typeface="微软雅黑"/>
              </a:rPr>
              <a:t>主讲  02</a:t>
            </a:r>
            <a:endParaRPr sz="800" b="0" i="0">
              <a:solidFill>
                <a:srgbClr val="64748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100579"/>
          </a:xfrm>
          <a:prstGeom prst="rect">
            <a:avLst/>
          </a:prstGeom>
          <a:solidFill>
            <a:srgbClr val="14263F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473" y="265341"/>
            <a:ext cx="4571762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HOU LAI  /  猴来工作室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12616" y="603651"/>
            <a:ext cx="1005787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kern="0" spc="8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/  三人协作，而不是创始人包办</a:t>
            </a:r>
            <a:endParaRPr lang="en-US" sz="1040" dirty="0"/>
          </a:p>
        </p:txBody>
      </p:sp>
      <p:sp>
        <p:nvSpPr>
          <p:cNvPr id="5" name="Text 3"/>
          <p:cNvSpPr/>
          <p:nvPr/>
        </p:nvSpPr>
        <p:spPr>
          <a:xfrm>
            <a:off x="603473" y="923674"/>
            <a:ext cx="11063664" cy="58518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一笔客户交付，是五道可以验收的接力关卡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60" y="1554578"/>
            <a:ext cx="10835076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从“客户说有问题”走到“客户认可核验结果”，每一步都必须留下证据。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10953941" y="329345"/>
            <a:ext cx="658334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186" y="2267772"/>
            <a:ext cx="2176159" cy="288021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186" y="2267772"/>
            <a:ext cx="2176159" cy="68576"/>
          </a:xfrm>
          <a:prstGeom prst="rect">
            <a:avLst/>
          </a:prstGeom>
          <a:solidFill>
            <a:srgbClr val="F29B5E"/>
          </a:solidFill>
          <a:ln w="12700">
            <a:solidFill>
              <a:srgbClr val="F29B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195" y="2459786"/>
            <a:ext cx="1920140" cy="292593"/>
          </a:xfrm>
          <a:prstGeom prst="roundRect">
            <a:avLst>
              <a:gd name="adj" fmla="val 31250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43" y="2476245"/>
            <a:ext cx="1773844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551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G1  ·  创始人 F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49769" y="2953537"/>
            <a:ext cx="1837848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锁定问题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9769" y="3547866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业务损失与购买者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769" y="3931894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范围、预算、验收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749769" y="4379926"/>
            <a:ext cx="1846992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749769" y="4498792"/>
            <a:ext cx="1892709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交付证据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49769" y="4763954"/>
            <a:ext cx="1892709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客户问题卡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16784" y="2267772"/>
            <a:ext cx="2176159" cy="288021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6784" y="2267772"/>
            <a:ext cx="2176159" cy="68576"/>
          </a:xfrm>
          <a:prstGeom prst="rect">
            <a:avLst/>
          </a:prstGeom>
          <a:solidFill>
            <a:srgbClr val="0E9387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4793" y="2459786"/>
            <a:ext cx="1920140" cy="292593"/>
          </a:xfrm>
          <a:prstGeom prst="roundRect">
            <a:avLst>
              <a:gd name="adj" fmla="val 31250"/>
            </a:avLst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17942" y="2476245"/>
            <a:ext cx="1773844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G2  ·  业务成员 A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3081368" y="2953537"/>
            <a:ext cx="1837848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形成规则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81368" y="3547866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字段与权威版本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081368" y="3931894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授权样本 / 预期结果</a:t>
            </a:r>
            <a:endParaRPr lang="en-US" sz="1210" dirty="0"/>
          </a:p>
        </p:txBody>
      </p:sp>
      <p:sp>
        <p:nvSpPr>
          <p:cNvPr id="25" name="Shape 23"/>
          <p:cNvSpPr/>
          <p:nvPr/>
        </p:nvSpPr>
        <p:spPr>
          <a:xfrm>
            <a:off x="3081368" y="4379926"/>
            <a:ext cx="1846992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3081368" y="4498792"/>
            <a:ext cx="1892709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交付证据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3081368" y="4763954"/>
            <a:ext cx="1892709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规则与样本集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48383" y="2267772"/>
            <a:ext cx="2176159" cy="288021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48383" y="2267772"/>
            <a:ext cx="2176159" cy="68576"/>
          </a:xfrm>
          <a:prstGeom prst="rect">
            <a:avLst/>
          </a:prstGeom>
          <a:solidFill>
            <a:srgbClr val="0E9387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76392" y="2459786"/>
            <a:ext cx="1920140" cy="292593"/>
          </a:xfrm>
          <a:prstGeom prst="roundRect">
            <a:avLst>
              <a:gd name="adj" fmla="val 31250"/>
            </a:avLst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9540" y="2476245"/>
            <a:ext cx="1773844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03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G3  ·  工程成员 B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5412966" y="2953537"/>
            <a:ext cx="1837848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受控开发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12966" y="3547866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复用公共核验内核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12966" y="3931894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配置与自动回归</a:t>
            </a:r>
            <a:endParaRPr lang="en-US" sz="1210" dirty="0"/>
          </a:p>
        </p:txBody>
      </p:sp>
      <p:sp>
        <p:nvSpPr>
          <p:cNvPr id="35" name="Shape 33"/>
          <p:cNvSpPr/>
          <p:nvPr/>
        </p:nvSpPr>
        <p:spPr>
          <a:xfrm>
            <a:off x="5412966" y="4379926"/>
            <a:ext cx="1846992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5412966" y="4498792"/>
            <a:ext cx="1892709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交付证据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5412966" y="4763954"/>
            <a:ext cx="1892709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版本与测试记录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79981" y="2267772"/>
            <a:ext cx="2176159" cy="288021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79981" y="2267772"/>
            <a:ext cx="2176159" cy="68576"/>
          </a:xfrm>
          <a:prstGeom prst="rect">
            <a:avLst/>
          </a:prstGeom>
          <a:solidFill>
            <a:srgbClr val="0E9387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07991" y="2459786"/>
            <a:ext cx="1920140" cy="292593"/>
          </a:xfrm>
          <a:prstGeom prst="roundRect">
            <a:avLst>
              <a:gd name="adj" fmla="val 31250"/>
            </a:avLst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81139" y="2476245"/>
            <a:ext cx="1773844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G4  ·  实施成员 A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7744565" y="2953537"/>
            <a:ext cx="1837848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独立复现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744565" y="3547866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非原作者部署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744565" y="3931894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发现异常 / 复核证据</a:t>
            </a:r>
            <a:endParaRPr lang="en-US" sz="1210" dirty="0"/>
          </a:p>
        </p:txBody>
      </p:sp>
      <p:sp>
        <p:nvSpPr>
          <p:cNvPr id="45" name="Shape 43"/>
          <p:cNvSpPr/>
          <p:nvPr/>
        </p:nvSpPr>
        <p:spPr>
          <a:xfrm>
            <a:off x="7744565" y="4379926"/>
            <a:ext cx="1846992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7744565" y="4498792"/>
            <a:ext cx="1892709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交付证据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7744565" y="4763954"/>
            <a:ext cx="1892709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独立测试报告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911580" y="2267772"/>
            <a:ext cx="2176159" cy="288021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11580" y="2267772"/>
            <a:ext cx="2176159" cy="68576"/>
          </a:xfrm>
          <a:prstGeom prst="rect">
            <a:avLst/>
          </a:prstGeom>
          <a:solidFill>
            <a:srgbClr val="F29B5E"/>
          </a:solidFill>
          <a:ln w="12700">
            <a:solidFill>
              <a:srgbClr val="F29B5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39589" y="2459786"/>
            <a:ext cx="1920140" cy="292593"/>
          </a:xfrm>
          <a:prstGeom prst="roundRect">
            <a:avLst>
              <a:gd name="adj" fmla="val 31250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12737" y="2476245"/>
            <a:ext cx="1773844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551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G5  ·  创始人 F</a:t>
            </a:r>
            <a:endParaRPr lang="en-US" sz="1060" dirty="0"/>
          </a:p>
        </p:txBody>
      </p:sp>
      <p:sp>
        <p:nvSpPr>
          <p:cNvPr id="52" name="Text 50"/>
          <p:cNvSpPr/>
          <p:nvPr/>
        </p:nvSpPr>
        <p:spPr>
          <a:xfrm>
            <a:off x="10076163" y="2953537"/>
            <a:ext cx="1837848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验收复盘</a:t>
            </a: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0076163" y="3547866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客户技术人员审批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0076163" y="3931894"/>
            <a:ext cx="1901853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交付成本与价值</a:t>
            </a:r>
            <a:endParaRPr lang="en-US" sz="1210" dirty="0"/>
          </a:p>
        </p:txBody>
      </p:sp>
      <p:sp>
        <p:nvSpPr>
          <p:cNvPr id="55" name="Shape 53"/>
          <p:cNvSpPr/>
          <p:nvPr/>
        </p:nvSpPr>
        <p:spPr>
          <a:xfrm>
            <a:off x="10076163" y="4379926"/>
            <a:ext cx="1846992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10076163" y="4498792"/>
            <a:ext cx="1892709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交付证据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10076163" y="4763954"/>
            <a:ext cx="1892709" cy="2103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验收与经营账本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12616" y="5440575"/>
            <a:ext cx="10935654" cy="722338"/>
          </a:xfrm>
          <a:prstGeom prst="roundRect">
            <a:avLst>
              <a:gd name="adj" fmla="val 20253"/>
            </a:avLst>
          </a:prstGeom>
          <a:solidFill>
            <a:srgbClr val="14263F"/>
          </a:solidFill>
          <a:ln w="12700">
            <a:solidFill>
              <a:srgbClr val="14263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9491" y="5632589"/>
            <a:ext cx="1234376" cy="26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共同底线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2139585" y="5623446"/>
            <a:ext cx="9042945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E2F1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AI可辅助整理与编码，但不能替代权威版本判断、关键质量放行或客户的正式业务批准。</a:t>
            </a:r>
            <a:endParaRPr lang="en-US" sz="1310" dirty="0"/>
          </a:p>
        </p:txBody>
      </p:sp>
      <p:sp>
        <p:nvSpPr>
          <p:cNvPr id="61" name="Shape 59"/>
          <p:cNvSpPr/>
          <p:nvPr/>
        </p:nvSpPr>
        <p:spPr>
          <a:xfrm>
            <a:off x="612616" y="6501224"/>
            <a:ext cx="10963085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62" name="Text 60"/>
          <p:cNvSpPr/>
          <p:nvPr/>
        </p:nvSpPr>
        <p:spPr>
          <a:xfrm>
            <a:off x="621760" y="6537798"/>
            <a:ext cx="10972229" cy="19201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协作原则：业务负责人确认规则，研发实现和自测，非原作者独立核验，客户授权责任人批准业务。</a:t>
            </a:r>
            <a:endParaRPr lang="en-US" sz="8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16B68"/>
                </a:solidFill>
                <a:latin typeface="微软雅黑"/>
              </a:rPr>
              <a:t>05 / FOUNDER OPERATING SYSTEM</a:t>
            </a:r>
            <a:endParaRPr sz="900" b="1" i="0">
              <a:solidFill>
                <a:srgbClr val="116B68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32238"/>
                </a:solidFill>
                <a:latin typeface="微软雅黑"/>
              </a:rPr>
              <a:t>创始人的</a:t>
            </a:r>
            <a:r>
              <a:rPr lang="en-US" sz="2500" b="1" i="0">
                <a:solidFill>
                  <a:srgbClr val="132238"/>
                </a:solidFill>
                <a:latin typeface="微软雅黑"/>
              </a:rPr>
              <a:t>AI</a:t>
            </a:r>
            <a:r>
              <a:rPr lang="zh-CN" altLang="en-US" sz="2500" b="1" i="0">
                <a:solidFill>
                  <a:srgbClr val="132238"/>
                </a:solidFill>
                <a:latin typeface="微软雅黑"/>
              </a:rPr>
              <a:t>技术</a:t>
            </a:r>
            <a:r>
              <a:rPr sz="2500" b="1" i="0">
                <a:solidFill>
                  <a:srgbClr val="132238"/>
                </a:solidFill>
                <a:latin typeface="微软雅黑"/>
              </a:rPr>
              <a:t>杠杆：把工作拆成别人也能执行和验收的流程</a:t>
            </a:r>
            <a:endParaRPr sz="25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</a:rPr>
              <a:t>三人团队不是靠每个人“都很忙”，而是靠清晰的工作包、权限、测试和交接。</a:t>
            </a:r>
            <a:endParaRPr sz="11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4930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84248"/>
            <a:ext cx="54864" cy="1837943"/>
          </a:xfrm>
          <a:prstGeom prst="rect">
            <a:avLst/>
          </a:prstGeom>
          <a:solidFill>
            <a:srgbClr val="19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574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2238"/>
                </a:solidFill>
                <a:latin typeface="微软雅黑"/>
              </a:rPr>
              <a:t>创始人｜定义问题与边界</a:t>
            </a:r>
            <a:endParaRPr sz="14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790" y="2496185"/>
            <a:ext cx="3309620" cy="100266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44"/>
                </a:solidFill>
                <a:latin typeface="微软雅黑"/>
              </a:rPr>
              <a:t>• 识别真实业务问题与采购决策人
• 先确认预算、授权、范围和验收
• 定义风险边界与停止条件
• 批准对外承诺和最终交付</a:t>
            </a:r>
            <a:endParaRPr sz="160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52544" y="1874519"/>
            <a:ext cx="34930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2544" y="1984248"/>
            <a:ext cx="54864" cy="1837943"/>
          </a:xfrm>
          <a:prstGeom prst="rect">
            <a:avLst/>
          </a:prstGeom>
          <a:solidFill>
            <a:srgbClr val="D8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574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2238"/>
                </a:solidFill>
                <a:latin typeface="微软雅黑"/>
              </a:rPr>
              <a:t>技术成员｜工程实现与回归</a:t>
            </a:r>
            <a:endParaRPr sz="14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53585" y="2496185"/>
            <a:ext cx="3460115" cy="1502410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44"/>
                </a:solidFill>
                <a:latin typeface="微软雅黑"/>
              </a:rPr>
              <a:t>• 使用 Codex 辅助实现获批任务</a:t>
            </a:r>
            <a:endParaRPr sz="160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44"/>
                </a:solidFill>
                <a:latin typeface="微软雅黑"/>
              </a:rPr>
              <a:t>• 把规则、数据结构和边界写清</a:t>
            </a:r>
            <a:endParaRPr sz="160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44"/>
                </a:solidFill>
                <a:latin typeface="微软雅黑"/>
              </a:rPr>
              <a:t>• 增加测试、复测缺陷、提交审查</a:t>
            </a:r>
            <a:endParaRPr sz="160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44"/>
                </a:solidFill>
                <a:latin typeface="微软雅黑"/>
              </a:rPr>
              <a:t>• 不把“代码能跑”当成验收通过</a:t>
            </a:r>
            <a:endParaRPr sz="160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930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984248"/>
            <a:ext cx="54864" cy="1837943"/>
          </a:xfrm>
          <a:prstGeom prst="rect">
            <a:avLst/>
          </a:prstGeom>
          <a:solidFill>
            <a:srgbClr val="34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2238"/>
                </a:solidFill>
                <a:latin typeface="微软雅黑"/>
              </a:rPr>
              <a:t>实施成员｜按工作流独立复现</a:t>
            </a:r>
            <a:endParaRPr sz="14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48015" y="2496185"/>
            <a:ext cx="4331335" cy="1398905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44"/>
                </a:solidFill>
                <a:latin typeface="微软雅黑"/>
              </a:rPr>
              <a:t>• 按 Skill / 检查清单读取资料</a:t>
            </a:r>
            <a:endParaRPr sz="160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44"/>
                </a:solidFill>
                <a:latin typeface="微软雅黑"/>
              </a:rPr>
              <a:t>• 跑标准样本和异常样本</a:t>
            </a:r>
            <a:endParaRPr sz="160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44"/>
                </a:solidFill>
                <a:latin typeface="微软雅黑"/>
              </a:rPr>
              <a:t>• 记录结果、证据、工时与未解决项</a:t>
            </a:r>
            <a:endParaRPr sz="160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44"/>
                </a:solidFill>
                <a:latin typeface="微软雅黑"/>
              </a:rPr>
              <a:t>• 产出可交接的验收包</a:t>
            </a:r>
            <a:endParaRPr sz="160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4672" y="4389120"/>
            <a:ext cx="1737360" cy="868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526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32238"/>
                </a:solidFill>
                <a:latin typeface="微软雅黑"/>
              </a:rPr>
              <a:t>工作包卡</a:t>
            </a:r>
            <a:endParaRPr sz="115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7824" y="4846320"/>
            <a:ext cx="15910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微软雅黑"/>
              </a:rPr>
              <a:t>目标 / 范围 / 权限</a:t>
            </a:r>
            <a:endParaRPr sz="850" b="0" i="0">
              <a:solidFill>
                <a:srgbClr val="64748B"/>
              </a:solidFill>
              <a:latin typeface="微软雅黑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4809744"/>
            <a:ext cx="384048" cy="0"/>
          </a:xfrm>
          <a:prstGeom prst="line">
            <a:avLst/>
          </a:prstGeom>
          <a:ln w="17780">
            <a:solidFill>
              <a:srgbClr val="19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99232" y="4389120"/>
            <a:ext cx="1737360" cy="868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0672" y="4526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32238"/>
                </a:solidFill>
                <a:latin typeface="微软雅黑"/>
              </a:rPr>
              <a:t>标准流程</a:t>
            </a:r>
            <a:endParaRPr sz="115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72384" y="4846320"/>
            <a:ext cx="15910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微软雅黑"/>
              </a:rPr>
              <a:t>步骤 / 输入 / 输出</a:t>
            </a:r>
            <a:endParaRPr sz="850" b="0" i="0">
              <a:solidFill>
                <a:srgbClr val="64748B"/>
              </a:solidFill>
              <a:latin typeface="微软雅黑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4754879" y="4809744"/>
            <a:ext cx="384049" cy="0"/>
          </a:xfrm>
          <a:prstGeom prst="line">
            <a:avLst/>
          </a:prstGeom>
          <a:ln w="17780">
            <a:solidFill>
              <a:srgbClr val="19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93792" y="4389120"/>
            <a:ext cx="1737360" cy="868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1" y="4526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32238"/>
                </a:solidFill>
                <a:latin typeface="微软雅黑"/>
              </a:rPr>
              <a:t>测试集</a:t>
            </a:r>
            <a:endParaRPr sz="115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66944" y="4846320"/>
            <a:ext cx="15910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微软雅黑"/>
              </a:rPr>
              <a:t>正常例 / 反例</a:t>
            </a:r>
            <a:endParaRPr sz="850" b="0" i="0">
              <a:solidFill>
                <a:srgbClr val="64748B"/>
              </a:solidFill>
              <a:latin typeface="微软雅黑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6949440" y="4809744"/>
            <a:ext cx="384048" cy="0"/>
          </a:xfrm>
          <a:prstGeom prst="line">
            <a:avLst/>
          </a:prstGeom>
          <a:ln w="17780">
            <a:solidFill>
              <a:srgbClr val="19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88352" y="4389120"/>
            <a:ext cx="1737360" cy="868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4526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32238"/>
                </a:solidFill>
                <a:latin typeface="微软雅黑"/>
              </a:rPr>
              <a:t>独立复现</a:t>
            </a:r>
            <a:endParaRPr sz="115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61504" y="4846320"/>
            <a:ext cx="15910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微软雅黑"/>
              </a:rPr>
              <a:t>不依赖原作者</a:t>
            </a:r>
            <a:endParaRPr sz="850" b="0" i="0">
              <a:solidFill>
                <a:srgbClr val="64748B"/>
              </a:solidFill>
              <a:latin typeface="微软雅黑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144000" y="4809744"/>
            <a:ext cx="384048" cy="0"/>
          </a:xfrm>
          <a:prstGeom prst="line">
            <a:avLst/>
          </a:prstGeom>
          <a:ln w="17780">
            <a:solidFill>
              <a:srgbClr val="19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82912" y="4389120"/>
            <a:ext cx="1737360" cy="868680"/>
          </a:xfrm>
          <a:prstGeom prst="roundRect">
            <a:avLst/>
          </a:prstGeom>
          <a:solidFill>
            <a:srgbClr val="E8EFF6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45262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32238"/>
                </a:solidFill>
                <a:latin typeface="微软雅黑"/>
              </a:rPr>
              <a:t>验收证据</a:t>
            </a:r>
            <a:endParaRPr sz="115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56064" y="4846320"/>
            <a:ext cx="15910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4748B"/>
                </a:solidFill>
                <a:latin typeface="微软雅黑"/>
              </a:rPr>
              <a:t>结果 / 工时 / 风险</a:t>
            </a:r>
            <a:endParaRPr sz="85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6384" y="566928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微软雅黑"/>
              </a:rPr>
              <a:t>目标：让另一位成员按同一工作包独立交付；当前仍需通过实际复现证明，不能把目标写成已完成能力。</a:t>
            </a:r>
            <a:endParaRPr sz="105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55624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748B"/>
                </a:solidFill>
                <a:latin typeface="微软雅黑"/>
              </a:rPr>
              <a:t>HOULAI STUDIO  /  猴来工作室</a:t>
            </a:r>
            <a:endParaRPr sz="8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561320" y="654710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748B"/>
                </a:solidFill>
                <a:latin typeface="微软雅黑"/>
              </a:rPr>
              <a:t>主讲  06</a:t>
            </a:r>
            <a:endParaRPr sz="800" b="0" i="0">
              <a:solidFill>
                <a:srgbClr val="64748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29" y="320202"/>
            <a:ext cx="10697923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30" dirty="0">
                <a:solidFill>
                  <a:srgbClr val="138D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BUSINESS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29" y="759091"/>
            <a:ext cx="11017946" cy="5668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28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第一笔项目之后，我们发现“会做”不等于“能持续卖”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16" y="1417425"/>
            <a:ext cx="10835076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5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广东既有客户接触，让我们重新审视目标市场和客户付费理由。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47" y="1929462"/>
            <a:ext cx="5303244" cy="2962502"/>
          </a:xfrm>
          <a:prstGeom prst="roundRect">
            <a:avLst>
              <a:gd name="adj" fmla="val 4012"/>
            </a:avLst>
          </a:prstGeom>
          <a:solidFill>
            <a:srgbClr val="FFFFFF"/>
          </a:solidFill>
          <a:ln w="8890">
            <a:solidFill>
              <a:srgbClr val="DAE3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5209" y="2185481"/>
            <a:ext cx="347454" cy="3474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246" y="2139763"/>
            <a:ext cx="3383104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28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部分中小泵厂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498614" y="2212911"/>
            <a:ext cx="1170371" cy="265162"/>
          </a:xfrm>
          <a:prstGeom prst="roundRect">
            <a:avLst>
              <a:gd name="adj" fmla="val 41379"/>
            </a:avLst>
          </a:prstGeom>
          <a:solidFill>
            <a:srgbClr val="FFF3DF"/>
          </a:solidFill>
          <a:ln w="12700">
            <a:solidFill>
              <a:srgbClr val="FFF3D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80905" y="2212911"/>
            <a:ext cx="1005788" cy="26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66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问题不够痛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69214" y="2953537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653" y="2852958"/>
            <a:ext cx="4452896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询盘和技术资料处理量有限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14" y="3401569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4653" y="3300991"/>
            <a:ext cx="4452896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原有人工成本并不高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14" y="3849602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24653" y="3749023"/>
            <a:ext cx="4452896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自动化节省难以覆盖软件费用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4352" y="4471362"/>
            <a:ext cx="4745489" cy="283449"/>
          </a:xfrm>
          <a:prstGeom prst="roundRect">
            <a:avLst>
              <a:gd name="adj" fmla="val 41935"/>
            </a:avLst>
          </a:prstGeom>
          <a:solidFill>
            <a:srgbClr val="EFF3F5"/>
          </a:solidFill>
          <a:ln w="12700">
            <a:solidFill>
              <a:srgbClr val="EFF3F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01" y="4489649"/>
            <a:ext cx="4516901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49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需求强度不足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35883" y="1929462"/>
            <a:ext cx="5303244" cy="2962502"/>
          </a:xfrm>
          <a:prstGeom prst="roundRect">
            <a:avLst>
              <a:gd name="adj" fmla="val 4012"/>
            </a:avLst>
          </a:prstGeom>
          <a:solidFill>
            <a:srgbClr val="FFFFFF"/>
          </a:solidFill>
          <a:ln w="8890">
            <a:solidFill>
              <a:srgbClr val="DAE3E8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01045" y="2185481"/>
            <a:ext cx="347454" cy="34745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13083" y="2139763"/>
            <a:ext cx="3383104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28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大型制造企业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10094450" y="2212911"/>
            <a:ext cx="1170371" cy="265162"/>
          </a:xfrm>
          <a:prstGeom prst="roundRect">
            <a:avLst>
              <a:gd name="adj" fmla="val 41379"/>
            </a:avLst>
          </a:prstGeom>
          <a:solidFill>
            <a:srgbClr val="FFF3DF"/>
          </a:solidFill>
          <a:ln w="12700">
            <a:solidFill>
              <a:srgbClr val="FFF3D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176742" y="2212911"/>
            <a:ext cx="1005788" cy="26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66A1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进入门槛更高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565050" y="2953537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20490" y="2852958"/>
            <a:ext cx="4452896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可能具备更复杂的业务场景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565050" y="3401569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20490" y="3300991"/>
            <a:ext cx="4452896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采购、合规及信息安全门槛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565050" y="3849602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20490" y="3749023"/>
            <a:ext cx="4452896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初创团队尚缺大型交付履历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510189" y="4471362"/>
            <a:ext cx="4745489" cy="283449"/>
          </a:xfrm>
          <a:prstGeom prst="roundRect">
            <a:avLst>
              <a:gd name="adj" fmla="val 41935"/>
            </a:avLst>
          </a:prstGeom>
          <a:solidFill>
            <a:srgbClr val="EFF3F5"/>
          </a:solidFill>
          <a:ln w="12700">
            <a:solidFill>
              <a:srgbClr val="EFF3F5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83337" y="4489649"/>
            <a:ext cx="4516901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49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采购准入困难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0047" y="5157126"/>
            <a:ext cx="10899080" cy="795487"/>
          </a:xfrm>
          <a:prstGeom prst="roundRect">
            <a:avLst>
              <a:gd name="adj" fmla="val 14943"/>
            </a:avLst>
          </a:prstGeom>
          <a:solidFill>
            <a:srgbClr val="11283B"/>
          </a:solidFill>
          <a:ln w="12700">
            <a:solidFill>
              <a:srgbClr val="11283B">
                <a:alpha val="0"/>
              </a:srgbClr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41783" y="5385714"/>
            <a:ext cx="265162" cy="26516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62385" y="5312566"/>
            <a:ext cx="1910996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5E8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新的市场假设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3154516" y="5294279"/>
            <a:ext cx="7982296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从“替企业省几小时”转向“减少高代价的技术错误、返工和交付风险”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667477" y="6117196"/>
            <a:ext cx="10569913" cy="2011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5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这是基于有限企业接触形成的假设，尚不代表整个广东市场，也不代表临港需求已经成立。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594329" y="6528655"/>
            <a:ext cx="10999659" cy="0"/>
          </a:xfrm>
          <a:prstGeom prst="line">
            <a:avLst/>
          </a:prstGeom>
          <a:noFill/>
          <a:ln w="8255">
            <a:solidFill>
              <a:srgbClr val="DAE3E8"/>
            </a:solidFill>
            <a:prstDash val="solid"/>
            <a:headEnd type="none"/>
          </a:ln>
        </p:spPr>
      </p:sp>
      <p:sp>
        <p:nvSpPr>
          <p:cNvPr id="37" name="Text 32"/>
          <p:cNvSpPr/>
          <p:nvPr/>
        </p:nvSpPr>
        <p:spPr>
          <a:xfrm>
            <a:off x="612616" y="6574372"/>
            <a:ext cx="5028938" cy="16458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190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HOULAI STUDIO  /  猴来工作室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6674772" y="6574372"/>
            <a:ext cx="4324887" cy="16458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190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主讲 01:20—02:40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11200817" y="6565229"/>
            <a:ext cx="365741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190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 i="0">
                <a:solidFill>
                  <a:srgbClr val="188F8A"/>
                </a:solidFill>
                <a:latin typeface="微软雅黑"/>
              </a:rPr>
              <a:t>03 / FOUNDER LESSONS</a:t>
            </a:r>
            <a:endParaRPr sz="900" b="1" i="0">
              <a:solidFill>
                <a:srgbClr val="188F8A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 i="0">
                <a:solidFill>
                  <a:srgbClr val="14243F"/>
                </a:solidFill>
                <a:latin typeface="微软雅黑"/>
              </a:rPr>
              <a:t>关系能带来现场入口，但不能替代交易条件</a:t>
            </a:r>
            <a:endParaRPr sz="2400" b="1" i="0">
              <a:solidFill>
                <a:srgbClr val="14243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 i="0">
                <a:solidFill>
                  <a:srgbClr val="667085"/>
                </a:solidFill>
                <a:latin typeface="微软雅黑"/>
              </a:rPr>
              <a:t>早期踩坑不是关系本身无用，而是把交流热度、方案讨论和 Demo 认可误当成采购证据。</a:t>
            </a:r>
            <a:endParaRPr sz="1080" b="0" i="0">
              <a:solidFill>
                <a:srgbClr val="667085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67085"/>
                </a:solidFill>
                <a:latin typeface="微软雅黑"/>
              </a:rPr>
              <a:t>HOULAI STUDIO  /  猴来工作室</a:t>
            </a:r>
            <a:endParaRPr sz="800" b="0" i="0">
              <a:solidFill>
                <a:srgbClr val="66708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69880" y="652881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67085"/>
                </a:solidFill>
                <a:latin typeface="微软雅黑"/>
              </a:rPr>
              <a:t>主讲  04</a:t>
            </a:r>
            <a:endParaRPr sz="800" b="0" i="0">
              <a:solidFill>
                <a:srgbClr val="66708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3502152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6656" y="1865376"/>
            <a:ext cx="64008" cy="3118104"/>
          </a:xfrm>
          <a:prstGeom prst="rect">
            <a:avLst/>
          </a:prstGeom>
          <a:solidFill>
            <a:srgbClr val="188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53450"/>
            <a:ext cx="3154680" cy="2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1" i="0">
                <a:solidFill>
                  <a:srgbClr val="188F8A"/>
                </a:solidFill>
                <a:latin typeface="微软雅黑"/>
              </a:rPr>
              <a:t>关系的真实价值</a:t>
            </a:r>
            <a:endParaRPr b="1" i="0">
              <a:solidFill>
                <a:srgbClr val="188F8A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307908"/>
            <a:ext cx="3154680" cy="3219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 i="0">
                <a:solidFill>
                  <a:srgbClr val="14243F"/>
                </a:solidFill>
                <a:latin typeface="微软雅黑"/>
              </a:rPr>
              <a:t>帮助我进入现场</a:t>
            </a:r>
            <a:endParaRPr sz="2000" b="1" i="0">
              <a:solidFill>
                <a:srgbClr val="14243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536" y="2743200"/>
            <a:ext cx="3136392" cy="13284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接触真实业务流程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观察员工如何处理资料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找到反复出现的问题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积累行业语境和信任</a:t>
            </a:r>
            <a:endParaRPr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52544" y="1847088"/>
            <a:ext cx="3502152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1" y="1865376"/>
            <a:ext cx="64008" cy="3118104"/>
          </a:xfrm>
          <a:prstGeom prst="rect">
            <a:avLst/>
          </a:prstGeom>
          <a:solidFill>
            <a:srgbClr val="E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953450"/>
            <a:ext cx="3154680" cy="2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1" i="0">
                <a:solidFill>
                  <a:srgbClr val="E9A15A"/>
                </a:solidFill>
                <a:latin typeface="微软雅黑"/>
              </a:rPr>
              <a:t>早期容易踩的坑</a:t>
            </a:r>
            <a:endParaRPr b="1" i="0">
              <a:solidFill>
                <a:srgbClr val="E9A15A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53712" y="2323783"/>
            <a:ext cx="3154680" cy="2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1" i="0">
                <a:solidFill>
                  <a:srgbClr val="14243F"/>
                </a:solidFill>
                <a:latin typeface="微软雅黑"/>
              </a:rPr>
              <a:t>投入先于交易确认</a:t>
            </a:r>
            <a:endParaRPr b="1" i="0">
              <a:solidFill>
                <a:srgbClr val="14243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53712" y="2743200"/>
            <a:ext cx="3136392" cy="196405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方案讨论停在免费咨询，未进入采购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先做接近真实业务的 Demo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联系人不一定有采购权限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资料可见不等于授权处理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新需求没有及时变更计价</a:t>
            </a:r>
            <a:endParaRPr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46720" y="1847088"/>
            <a:ext cx="3502152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865376"/>
            <a:ext cx="64008" cy="3118104"/>
          </a:xfrm>
          <a:prstGeom prst="rect">
            <a:avLst/>
          </a:prstGeom>
          <a:solidFill>
            <a:srgbClr val="117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953450"/>
            <a:ext cx="3154680" cy="2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1" i="0">
                <a:solidFill>
                  <a:srgbClr val="11716E"/>
                </a:solidFill>
                <a:latin typeface="微软雅黑"/>
              </a:rPr>
              <a:t>现在的准入条件</a:t>
            </a:r>
            <a:endParaRPr b="1" i="0">
              <a:solidFill>
                <a:srgbClr val="11716E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47888" y="2323783"/>
            <a:ext cx="3154680" cy="2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b="1" i="0">
                <a:solidFill>
                  <a:srgbClr val="14243F"/>
                </a:solidFill>
                <a:latin typeface="微软雅黑"/>
              </a:rPr>
              <a:t>先核实，再开发</a:t>
            </a:r>
            <a:endParaRPr b="1" i="0">
              <a:solidFill>
                <a:srgbClr val="14243F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47888" y="2743200"/>
            <a:ext cx="3136392" cy="196405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谁使用、谁负责、谁付费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预算与采购路径是否明确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数据授权和处理环境是否清楚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交付范围、验收和付款节点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新增需求须书面确认</a:t>
            </a:r>
            <a:endParaRPr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9808" y="5285232"/>
            <a:ext cx="10744200" cy="786384"/>
          </a:xfrm>
          <a:prstGeom prst="roundRect">
            <a:avLst/>
          </a:prstGeom>
          <a:solidFill>
            <a:srgbClr val="FFF3E5"/>
          </a:solidFill>
          <a:ln w="10160">
            <a:solidFill>
              <a:srgbClr val="F0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5404104"/>
            <a:ext cx="10351008" cy="5486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20" b="0" i="0">
                <a:solidFill>
                  <a:srgbClr val="243247"/>
                </a:solidFill>
                <a:latin typeface="微软雅黑"/>
              </a:rPr>
              <a:t>早期个别沟通观察：客户粗估月度价值约 ¥2,000—3,000，首次部署预算约 ¥1,000—2,000；询盘量波动可能影响续费。</a:t>
            </a:r>
            <a:endParaRPr sz="1020"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20" b="0" i="0">
                <a:solidFill>
                  <a:srgbClr val="243247"/>
                </a:solidFill>
                <a:latin typeface="微软雅黑"/>
              </a:rPr>
              <a:t>这不是市场统计，须逐客户核实；客户感知价值也不等于我们的可持续利润。</a:t>
            </a:r>
            <a:endParaRPr sz="1020" b="0" i="0">
              <a:solidFill>
                <a:srgbClr val="24324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68576"/>
          </a:xfrm>
          <a:prstGeom prst="rect">
            <a:avLst/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63" y="219623"/>
            <a:ext cx="5028938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 HOULAI  /  临港双选会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0700" y="219623"/>
            <a:ext cx="2103010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战略判断  3 / 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63" y="658512"/>
            <a:ext cx="11237391" cy="0"/>
          </a:xfrm>
          <a:prstGeom prst="line">
            <a:avLst/>
          </a:prstGeom>
          <a:noFill/>
          <a:ln w="15240">
            <a:solidFill>
              <a:srgbClr val="DC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50" y="6546942"/>
            <a:ext cx="9234959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从“做成第一单”转向“证明跨客户可靠复制”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73386" y="6482937"/>
            <a:ext cx="502894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50" y="941962"/>
            <a:ext cx="11155099" cy="57604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423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真正的商业问题：第二家泵厂，为什么还会付费？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02894" y="1582008"/>
            <a:ext cx="11063664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我们不以 Demo 完成、代码数量或 PPT 效果作为成功标准，而以三类可核验的商业证据决定是否继续投入。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4607" y="2295203"/>
            <a:ext cx="3602548" cy="248703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190" y="2505504"/>
            <a:ext cx="502894" cy="411459"/>
          </a:xfrm>
          <a:prstGeom prst="roundRect">
            <a:avLst>
              <a:gd name="adj" fmla="val 17778"/>
            </a:avLst>
          </a:prstGeom>
          <a:solidFill>
            <a:srgbClr val="FFF3E2"/>
          </a:solidFill>
          <a:ln w="12700">
            <a:solidFill>
              <a:srgbClr val="FFF3E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764" y="2542078"/>
            <a:ext cx="429746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63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70950" y="2514648"/>
            <a:ext cx="2285881" cy="3748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1423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有人愿意买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94908" y="2980967"/>
            <a:ext cx="3108798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需求证据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22338" y="3383282"/>
            <a:ext cx="64005" cy="64005"/>
          </a:xfrm>
          <a:prstGeom prst="roundRect">
            <a:avLst>
              <a:gd name="adj" fmla="val 42857"/>
            </a:avLst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065" y="3310134"/>
            <a:ext cx="2980789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真实历史问题与返工记录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722338" y="3712449"/>
            <a:ext cx="64005" cy="64005"/>
          </a:xfrm>
          <a:prstGeom prst="roundRect">
            <a:avLst>
              <a:gd name="adj" fmla="val 42857"/>
            </a:avLst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065" y="3639301"/>
            <a:ext cx="2980789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有权限的业务负责人认可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722338" y="4041616"/>
            <a:ext cx="64005" cy="64005"/>
          </a:xfrm>
          <a:prstGeom prst="roundRect">
            <a:avLst>
              <a:gd name="adj" fmla="val 42857"/>
            </a:avLst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065" y="3968468"/>
            <a:ext cx="2980789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愿意为限定范围试点付费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694908" y="4453075"/>
            <a:ext cx="3154516" cy="0"/>
          </a:xfrm>
          <a:prstGeom prst="line">
            <a:avLst/>
          </a:prstGeom>
          <a:noFill/>
          <a:ln w="11430">
            <a:solidFill>
              <a:srgbClr val="DCE5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195" y="4535366"/>
            <a:ext cx="3127085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不是“客户觉得有意思”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4270026" y="2295203"/>
            <a:ext cx="3602548" cy="248703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609" y="2505504"/>
            <a:ext cx="502894" cy="411459"/>
          </a:xfrm>
          <a:prstGeom prst="roundRect">
            <a:avLst>
              <a:gd name="adj" fmla="val 17778"/>
            </a:avLst>
          </a:prstGeom>
          <a:solidFill>
            <a:srgbClr val="E9F6F3"/>
          </a:solidFill>
          <a:ln w="12700">
            <a:solidFill>
              <a:srgbClr val="E9F6F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1183" y="2542078"/>
            <a:ext cx="429746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56369" y="2514648"/>
            <a:ext cx="2285881" cy="3748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1423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核验结果可信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4480327" y="2980967"/>
            <a:ext cx="3108798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质量证据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507757" y="3383282"/>
            <a:ext cx="64005" cy="64005"/>
          </a:xfrm>
          <a:prstGeom prst="roundRect">
            <a:avLst>
              <a:gd name="adj" fmla="val 42857"/>
            </a:avLst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484" y="3310134"/>
            <a:ext cx="2980789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关键字段与来源可追溯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4507757" y="3712449"/>
            <a:ext cx="64005" cy="64005"/>
          </a:xfrm>
          <a:prstGeom prst="roundRect">
            <a:avLst>
              <a:gd name="adj" fmla="val 42857"/>
            </a:avLst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484" y="3639301"/>
            <a:ext cx="2980789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盲测覆盖冲突、单位、版本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4507757" y="4041616"/>
            <a:ext cx="64005" cy="64005"/>
          </a:xfrm>
          <a:prstGeom prst="roundRect">
            <a:avLst>
              <a:gd name="adj" fmla="val 42857"/>
            </a:avLst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484" y="3968468"/>
            <a:ext cx="2980789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不确定时安全转人工</a:t>
            </a:r>
            <a:endParaRPr lang="en-US" sz="1260" dirty="0"/>
          </a:p>
        </p:txBody>
      </p:sp>
      <p:sp>
        <p:nvSpPr>
          <p:cNvPr id="34" name="Shape 32"/>
          <p:cNvSpPr/>
          <p:nvPr/>
        </p:nvSpPr>
        <p:spPr>
          <a:xfrm>
            <a:off x="4480327" y="4453075"/>
            <a:ext cx="3154516" cy="0"/>
          </a:xfrm>
          <a:prstGeom prst="line">
            <a:avLst/>
          </a:prstGeom>
          <a:noFill/>
          <a:ln w="11430">
            <a:solidFill>
              <a:srgbClr val="DC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8614" y="4535366"/>
            <a:ext cx="3127085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不是“模型大多答对了”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8055444" y="2295203"/>
            <a:ext cx="3602548" cy="248703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0028" y="2505504"/>
            <a:ext cx="502894" cy="411459"/>
          </a:xfrm>
          <a:prstGeom prst="roundRect">
            <a:avLst>
              <a:gd name="adj" fmla="val 17778"/>
            </a:avLst>
          </a:prstGeom>
          <a:solidFill>
            <a:srgbClr val="E9F6F3"/>
          </a:solidFill>
          <a:ln w="12700">
            <a:solidFill>
              <a:srgbClr val="E9F6F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56602" y="2542078"/>
            <a:ext cx="429746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841787" y="2514648"/>
            <a:ext cx="2285881" cy="3748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1423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下一单能复制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8265745" y="2980967"/>
            <a:ext cx="3108798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D8D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经营证据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8293176" y="3383282"/>
            <a:ext cx="64005" cy="64005"/>
          </a:xfrm>
          <a:prstGeom prst="roundRect">
            <a:avLst>
              <a:gd name="adj" fmla="val 42857"/>
            </a:avLst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66903" y="3310134"/>
            <a:ext cx="2980789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另一名成员独立交付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8293176" y="3712449"/>
            <a:ext cx="64005" cy="64005"/>
          </a:xfrm>
          <a:prstGeom prst="roundRect">
            <a:avLst>
              <a:gd name="adj" fmla="val 42857"/>
            </a:avLst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66903" y="3639301"/>
            <a:ext cx="2980789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核心代码与规则可复用</a:t>
            </a:r>
            <a:endParaRPr lang="en-US" sz="1260" dirty="0"/>
          </a:p>
        </p:txBody>
      </p:sp>
      <p:sp>
        <p:nvSpPr>
          <p:cNvPr id="45" name="Shape 43"/>
          <p:cNvSpPr/>
          <p:nvPr/>
        </p:nvSpPr>
        <p:spPr>
          <a:xfrm>
            <a:off x="8293176" y="4041616"/>
            <a:ext cx="64005" cy="64005"/>
          </a:xfrm>
          <a:prstGeom prst="roundRect">
            <a:avLst>
              <a:gd name="adj" fmla="val 42857"/>
            </a:avLst>
          </a:prstGeom>
          <a:solidFill>
            <a:srgbClr val="0D8D82"/>
          </a:solidFill>
          <a:ln w="12700">
            <a:solidFill>
              <a:srgbClr val="0D8D82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66903" y="3968468"/>
            <a:ext cx="2980789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完整核算人时、研发与支持</a:t>
            </a:r>
            <a:endParaRPr lang="en-US" sz="1260" dirty="0"/>
          </a:p>
        </p:txBody>
      </p:sp>
      <p:sp>
        <p:nvSpPr>
          <p:cNvPr id="47" name="Shape 45"/>
          <p:cNvSpPr/>
          <p:nvPr/>
        </p:nvSpPr>
        <p:spPr>
          <a:xfrm>
            <a:off x="8265745" y="4453075"/>
            <a:ext cx="3154516" cy="0"/>
          </a:xfrm>
          <a:prstGeom prst="line">
            <a:avLst/>
          </a:prstGeom>
          <a:noFill/>
          <a:ln w="11430">
            <a:solidFill>
              <a:srgbClr val="DCE5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84033" y="4535366"/>
            <a:ext cx="3127085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不是“项目毛利看上去高”</a:t>
            </a:r>
            <a:endParaRPr lang="en-US" sz="1070" dirty="0"/>
          </a:p>
        </p:txBody>
      </p:sp>
      <p:sp>
        <p:nvSpPr>
          <p:cNvPr id="49" name="Shape 47"/>
          <p:cNvSpPr/>
          <p:nvPr/>
        </p:nvSpPr>
        <p:spPr>
          <a:xfrm>
            <a:off x="484607" y="5010830"/>
            <a:ext cx="6418754" cy="1170371"/>
          </a:xfrm>
          <a:prstGeom prst="roundRect">
            <a:avLst>
              <a:gd name="adj" fmla="val 10938"/>
            </a:avLst>
          </a:prstGeom>
          <a:solidFill>
            <a:srgbClr val="EDF2F8"/>
          </a:solidFill>
          <a:ln w="12700">
            <a:solidFill>
              <a:srgbClr val="EDF2F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38" y="5184557"/>
            <a:ext cx="214872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1423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我们已经拥有</a:t>
            </a:r>
            <a:endParaRPr lang="en-US" sz="1340" dirty="0"/>
          </a:p>
        </p:txBody>
      </p:sp>
      <p:sp>
        <p:nvSpPr>
          <p:cNvPr id="51" name="Text 49"/>
          <p:cNvSpPr/>
          <p:nvPr/>
        </p:nvSpPr>
        <p:spPr>
          <a:xfrm>
            <a:off x="713195" y="5532010"/>
            <a:ext cx="5934147" cy="4388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A2A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东莞水泵厂真实项目基础 · 6,000元合作 · 现场业务经验</a:t>
            </a:r>
            <a:endParaRPr lang="en-US" sz="1420" dirty="0"/>
          </a:p>
        </p:txBody>
      </p:sp>
      <p:sp>
        <p:nvSpPr>
          <p:cNvPr id="52" name="Shape 50"/>
          <p:cNvSpPr/>
          <p:nvPr/>
        </p:nvSpPr>
        <p:spPr>
          <a:xfrm>
            <a:off x="7113661" y="5010830"/>
            <a:ext cx="4571762" cy="1170371"/>
          </a:xfrm>
          <a:prstGeom prst="roundRect">
            <a:avLst>
              <a:gd name="adj" fmla="val 10938"/>
            </a:avLst>
          </a:prstGeom>
          <a:solidFill>
            <a:srgbClr val="FFF3E2"/>
          </a:solidFill>
          <a:ln w="12700">
            <a:solidFill>
              <a:srgbClr val="FFF3E2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23963" y="5184557"/>
            <a:ext cx="406886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865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下一步需要园区帮助对接</a:t>
            </a:r>
            <a:endParaRPr lang="en-US" sz="1330" dirty="0"/>
          </a:p>
        </p:txBody>
      </p:sp>
      <p:sp>
        <p:nvSpPr>
          <p:cNvPr id="54" name="Text 52"/>
          <p:cNvSpPr/>
          <p:nvPr/>
        </p:nvSpPr>
        <p:spPr>
          <a:xfrm>
            <a:off x="7323963" y="5495436"/>
            <a:ext cx="4169447" cy="48460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23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泵阀客户 · 脱敏样本 · 付费试点负责人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60" y="283628"/>
            <a:ext cx="6400467" cy="2103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付费闸门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60" y="612795"/>
            <a:ext cx="10972229" cy="4480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GATE-01：从业务访谈走向真实交易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30903" y="1124832"/>
            <a:ext cx="10953941" cy="38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早期的目标不是扩大团队，而是尽快获得可以证伪的采购证据。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7477" y="2002610"/>
            <a:ext cx="2139585" cy="2176159"/>
          </a:xfrm>
          <a:prstGeom prst="roundRect">
            <a:avLst>
              <a:gd name="adj" fmla="val 5128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25" y="2331777"/>
            <a:ext cx="1975001" cy="704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5次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68056" y="3255273"/>
            <a:ext cx="1901853" cy="457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深度访谈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43636" y="2889532"/>
            <a:ext cx="192014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99076" y="2002610"/>
            <a:ext cx="2139585" cy="2176159"/>
          </a:xfrm>
          <a:prstGeom prst="roundRect">
            <a:avLst>
              <a:gd name="adj" fmla="val 5128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2224" y="2331777"/>
            <a:ext cx="1975001" cy="704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2家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3099655" y="3255273"/>
            <a:ext cx="1901853" cy="457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有效商机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75234" y="2889532"/>
            <a:ext cx="192014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0674" y="2002610"/>
            <a:ext cx="2139585" cy="2176159"/>
          </a:xfrm>
          <a:prstGeom prst="roundRect">
            <a:avLst>
              <a:gd name="adj" fmla="val 5128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3823" y="2331777"/>
            <a:ext cx="1975001" cy="704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2份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5431253" y="3255273"/>
            <a:ext cx="1901853" cy="457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书面报价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06833" y="2889532"/>
            <a:ext cx="192014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62273" y="2002610"/>
            <a:ext cx="2139585" cy="2176159"/>
          </a:xfrm>
          <a:prstGeom prst="roundRect">
            <a:avLst>
              <a:gd name="adj" fmla="val 5128"/>
            </a:avLst>
          </a:prstGeom>
          <a:solidFill>
            <a:srgbClr val="1A3048"/>
          </a:solidFill>
          <a:ln w="12700">
            <a:solidFill>
              <a:srgbClr val="F0BD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35421" y="2331777"/>
            <a:ext cx="1975001" cy="704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1笔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7762852" y="3255273"/>
            <a:ext cx="1901853" cy="457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争取付费交易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38432" y="2889532"/>
            <a:ext cx="192014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93871" y="2002610"/>
            <a:ext cx="2139585" cy="2176159"/>
          </a:xfrm>
          <a:prstGeom prst="roundRect">
            <a:avLst>
              <a:gd name="adj" fmla="val 5128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67020" y="2331777"/>
            <a:ext cx="1975001" cy="704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1套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10094450" y="3255273"/>
            <a:ext cx="1901853" cy="457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成本与验收账本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75118" y="4562797"/>
            <a:ext cx="4983220" cy="384028"/>
          </a:xfrm>
          <a:prstGeom prst="roundRect">
            <a:avLst>
              <a:gd name="adj" fmla="val 28571"/>
            </a:avLst>
          </a:prstGeom>
          <a:solidFill>
            <a:srgbClr val="155C63"/>
          </a:solidFill>
          <a:ln w="6350">
            <a:solidFill>
              <a:srgbClr val="155C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122" y="4571940"/>
            <a:ext cx="4855211" cy="3657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探索性目标 · </a:t>
            </a:r>
            <a:r>
              <a:rPr lang="zh-CN" altLang="en-US" sz="12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估算</a:t>
            </a:r>
            <a:r>
              <a:rPr lang="en-US" sz="12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实际完成数据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03" y="5970900"/>
            <a:ext cx="10917367" cy="365741"/>
          </a:xfrm>
          <a:prstGeom prst="roundRect">
            <a:avLst>
              <a:gd name="adj" fmla="val 30000"/>
            </a:avLst>
          </a:prstGeom>
          <a:solidFill>
            <a:srgbClr val="1A3048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17" y="5998330"/>
            <a:ext cx="10551626" cy="237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要区分：客户感兴趣 ≠ 有采购权 ≠ 有合同 ≠ 有回款 ≠ 已形成可复制利润。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275" y="6510368"/>
            <a:ext cx="799958" cy="29998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0849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9"/>
            <a:ext cx="146296" cy="6857643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186" y="311058"/>
            <a:ext cx="987500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技术迁移难度与验证路径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42" y="649369"/>
            <a:ext cx="10880793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先在相似水泵企业证明复用，再</a:t>
            </a:r>
            <a:r>
              <a:rPr lang="zh-CN" alt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</a:t>
            </a:r>
            <a:r>
              <a:rPr 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到阀门</a:t>
            </a:r>
            <a:r>
              <a:rPr lang="zh-CN" alt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</a:t>
            </a:r>
            <a:endParaRPr lang="zh-CN" altLang="en-US" sz="2500" b="1" dirty="0">
              <a:solidFill>
                <a:srgbClr val="102437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5186" y="1170550"/>
            <a:ext cx="10999659" cy="0"/>
          </a:xfrm>
          <a:prstGeom prst="line">
            <a:avLst/>
          </a:prstGeom>
          <a:noFill/>
          <a:ln w="12700">
            <a:solidFill>
              <a:srgbClr val="DC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29" y="6501224"/>
            <a:ext cx="7314819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猴来工作室  /  临港OPC双选会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10422" y="6501224"/>
            <a:ext cx="1856135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  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477" y="1691730"/>
            <a:ext cx="2715627" cy="3081368"/>
          </a:xfrm>
          <a:prstGeom prst="roundRect">
            <a:avLst>
              <a:gd name="adj" fmla="val 4714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477" y="1691730"/>
            <a:ext cx="2715627" cy="100579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04" y="2002610"/>
            <a:ext cx="2359029" cy="46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首家水泵厂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1204" y="2587796"/>
            <a:ext cx="2368173" cy="4937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已有真实项目基础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48" y="3273560"/>
            <a:ext cx="2331599" cy="0"/>
          </a:xfrm>
          <a:prstGeom prst="line">
            <a:avLst/>
          </a:prstGeom>
          <a:noFill/>
          <a:ln w="11430">
            <a:solidFill>
              <a:srgbClr val="E7ED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04" y="3529579"/>
            <a:ext cx="2368173" cy="5577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核验问题与首版资产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04" y="4315922"/>
            <a:ext cx="1005788" cy="274306"/>
          </a:xfrm>
          <a:prstGeom prst="roundRect">
            <a:avLst>
              <a:gd name="adj" fmla="val 40000"/>
            </a:avLst>
          </a:prstGeom>
          <a:solidFill>
            <a:srgbClr val="E1F2ED"/>
          </a:solidFill>
          <a:ln w="12700">
            <a:solidFill>
              <a:srgbClr val="E1F2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04" y="4325065"/>
            <a:ext cx="1005788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已知基础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3328243" y="2953537"/>
            <a:ext cx="301736" cy="0"/>
          </a:xfrm>
          <a:prstGeom prst="line">
            <a:avLst/>
          </a:prstGeom>
          <a:noFill/>
          <a:ln w="31750">
            <a:solidFill>
              <a:srgbClr val="138C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75118" y="2852958"/>
            <a:ext cx="201158" cy="201158"/>
          </a:xfrm>
          <a:prstGeom prst="chevron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257" y="1691730"/>
            <a:ext cx="2715627" cy="3081368"/>
          </a:xfrm>
          <a:prstGeom prst="roundRect">
            <a:avLst>
              <a:gd name="adj" fmla="val 4714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257" y="1691730"/>
            <a:ext cx="2715627" cy="100579"/>
          </a:xfrm>
          <a:prstGeom prst="rect">
            <a:avLst/>
          </a:prstGeom>
          <a:solidFill>
            <a:srgbClr val="D59E50"/>
          </a:solidFill>
          <a:ln w="12700">
            <a:solidFill>
              <a:srgbClr val="D59E5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93984" y="2002610"/>
            <a:ext cx="2359029" cy="46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第二家水泵企业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693984" y="2587796"/>
            <a:ext cx="2368173" cy="4937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下一步最优验证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03127" y="3273560"/>
            <a:ext cx="2331599" cy="0"/>
          </a:xfrm>
          <a:prstGeom prst="line">
            <a:avLst/>
          </a:prstGeom>
          <a:noFill/>
          <a:ln w="11430">
            <a:solidFill>
              <a:srgbClr val="E7ED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3984" y="3529579"/>
            <a:ext cx="2368173" cy="5577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业务相似、资料不同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93984" y="4315922"/>
            <a:ext cx="1005788" cy="274306"/>
          </a:xfrm>
          <a:prstGeom prst="roundRect">
            <a:avLst>
              <a:gd name="adj" fmla="val 40000"/>
            </a:avLst>
          </a:prstGeom>
          <a:solidFill>
            <a:srgbClr val="FFF1DB"/>
          </a:solidFill>
          <a:ln w="12700">
            <a:solidFill>
              <a:srgbClr val="FFF1D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93984" y="4325065"/>
            <a:ext cx="1005788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9264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待验证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181022" y="2953537"/>
            <a:ext cx="301736" cy="0"/>
          </a:xfrm>
          <a:prstGeom prst="line">
            <a:avLst/>
          </a:prstGeom>
          <a:noFill/>
          <a:ln w="31750">
            <a:solidFill>
              <a:srgbClr val="138C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7897" y="2852958"/>
            <a:ext cx="201158" cy="201158"/>
          </a:xfrm>
          <a:prstGeom prst="chevron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3036" y="1691730"/>
            <a:ext cx="2715627" cy="3081368"/>
          </a:xfrm>
          <a:prstGeom prst="roundRect">
            <a:avLst>
              <a:gd name="adj" fmla="val 4714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3036" y="1691730"/>
            <a:ext cx="2715627" cy="100579"/>
          </a:xfrm>
          <a:prstGeom prst="rect">
            <a:avLst/>
          </a:prstGeom>
          <a:solidFill>
            <a:srgbClr val="D59E50"/>
          </a:solidFill>
          <a:ln w="12700">
            <a:solidFill>
              <a:srgbClr val="D59E5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6763" y="2002610"/>
            <a:ext cx="2359029" cy="46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第三家水泵企业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546763" y="2587796"/>
            <a:ext cx="2368173" cy="4937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验证稳定复制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55907" y="3273560"/>
            <a:ext cx="2331599" cy="0"/>
          </a:xfrm>
          <a:prstGeom prst="line">
            <a:avLst/>
          </a:prstGeom>
          <a:noFill/>
          <a:ln w="11430">
            <a:solidFill>
              <a:srgbClr val="E7ED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6763" y="3529579"/>
            <a:ext cx="2368173" cy="5577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重复性降低工时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46763" y="4315922"/>
            <a:ext cx="1005788" cy="274306"/>
          </a:xfrm>
          <a:prstGeom prst="roundRect">
            <a:avLst>
              <a:gd name="adj" fmla="val 40000"/>
            </a:avLst>
          </a:prstGeom>
          <a:solidFill>
            <a:srgbClr val="FFF1DB"/>
          </a:solidFill>
          <a:ln w="12700">
            <a:solidFill>
              <a:srgbClr val="FFF1D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6763" y="4325065"/>
            <a:ext cx="1005788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9264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待验证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9033801" y="2953537"/>
            <a:ext cx="301736" cy="0"/>
          </a:xfrm>
          <a:prstGeom prst="line">
            <a:avLst/>
          </a:prstGeom>
          <a:noFill/>
          <a:ln w="31750">
            <a:solidFill>
              <a:srgbClr val="138C8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80677" y="2852958"/>
            <a:ext cx="201158" cy="201158"/>
          </a:xfrm>
          <a:prstGeom prst="chevron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25815" y="1691730"/>
            <a:ext cx="2715627" cy="3081368"/>
          </a:xfrm>
          <a:prstGeom prst="roundRect">
            <a:avLst>
              <a:gd name="adj" fmla="val 4714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25815" y="1691730"/>
            <a:ext cx="2715627" cy="100579"/>
          </a:xfrm>
          <a:prstGeom prst="rect">
            <a:avLst/>
          </a:prstGeom>
          <a:solidFill>
            <a:srgbClr val="2877AC"/>
          </a:solidFill>
          <a:ln w="12700">
            <a:solidFill>
              <a:srgbClr val="2877A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99542" y="2002610"/>
            <a:ext cx="2359029" cy="466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阀门/非标设备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9399542" y="2587796"/>
            <a:ext cx="2368173" cy="4937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邻近行业拓展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408686" y="3273560"/>
            <a:ext cx="2331599" cy="0"/>
          </a:xfrm>
          <a:prstGeom prst="line">
            <a:avLst/>
          </a:prstGeom>
          <a:noFill/>
          <a:ln w="11430">
            <a:solidFill>
              <a:srgbClr val="E7ED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99542" y="3529579"/>
            <a:ext cx="2368173" cy="5577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新增领域语义和标准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399542" y="4315922"/>
            <a:ext cx="1005788" cy="274306"/>
          </a:xfrm>
          <a:prstGeom prst="roundRect">
            <a:avLst>
              <a:gd name="adj" fmla="val 40000"/>
            </a:avLst>
          </a:prstGeom>
          <a:solidFill>
            <a:srgbClr val="DAEAF6"/>
          </a:solidFill>
          <a:ln w="12700">
            <a:solidFill>
              <a:srgbClr val="DAEAF6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99542" y="4325065"/>
            <a:ext cx="1005788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2877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候选扩展</a:t>
            </a:r>
            <a:endParaRPr lang="en-US" sz="1070" dirty="0"/>
          </a:p>
        </p:txBody>
      </p:sp>
      <p:sp>
        <p:nvSpPr>
          <p:cNvPr id="47" name="Shape 45"/>
          <p:cNvSpPr/>
          <p:nvPr/>
        </p:nvSpPr>
        <p:spPr>
          <a:xfrm>
            <a:off x="685764" y="5230274"/>
            <a:ext cx="10798502" cy="786343"/>
          </a:xfrm>
          <a:prstGeom prst="roundRect">
            <a:avLst>
              <a:gd name="adj" fmla="val 13953"/>
            </a:avLst>
          </a:prstGeom>
          <a:solidFill>
            <a:srgbClr val="E1F2ED"/>
          </a:solidFill>
          <a:ln w="12700">
            <a:solidFill>
              <a:srgbClr val="E1F2ED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764" y="5230274"/>
            <a:ext cx="54861" cy="786343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778" y="5321709"/>
            <a:ext cx="10423617" cy="621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如果客户业务差异太大，就分不清效率改善来自“技术复用”，还是“项目恰好更简单”。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9"/>
            <a:ext cx="146296" cy="6857643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186" y="311058"/>
            <a:ext cx="987500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Eval 与安全门禁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42" y="649369"/>
            <a:ext cx="10880793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相似客户的核验必须过两道门：技术可信 + 交付可复制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85186" y="1170550"/>
            <a:ext cx="10999659" cy="0"/>
          </a:xfrm>
          <a:prstGeom prst="line">
            <a:avLst/>
          </a:prstGeom>
          <a:noFill/>
          <a:ln w="12700">
            <a:solidFill>
              <a:srgbClr val="DC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29" y="6501224"/>
            <a:ext cx="7314819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猴来工作室  /  临港OPC双选会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10422" y="6501224"/>
            <a:ext cx="1856135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 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477" y="1435712"/>
            <a:ext cx="5266670" cy="4004863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065" y="1719161"/>
            <a:ext cx="4690628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技术门｜核心行为必须正确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41783" y="2276916"/>
            <a:ext cx="245960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正常匹配 / 来源有效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391" y="2276916"/>
            <a:ext cx="2139585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按照已批准规则 PASS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932639" y="2697518"/>
            <a:ext cx="4727202" cy="0"/>
          </a:xfrm>
          <a:prstGeom prst="line">
            <a:avLst/>
          </a:prstGeom>
          <a:noFill/>
          <a:ln w="8890">
            <a:solidFill>
              <a:srgbClr val="E7ED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783" y="2852958"/>
            <a:ext cx="245960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关键参数冲突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391" y="2852958"/>
            <a:ext cx="2139585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b="1" dirty="0">
                <a:solidFill>
                  <a:srgbClr val="BA57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阻止错误自动放行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932639" y="3273560"/>
            <a:ext cx="4727202" cy="0"/>
          </a:xfrm>
          <a:prstGeom prst="line">
            <a:avLst/>
          </a:prstGeom>
          <a:noFill/>
          <a:ln w="8890">
            <a:solidFill>
              <a:srgbClr val="E7ED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783" y="3429000"/>
            <a:ext cx="245960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新版资料权威不明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391" y="3429000"/>
            <a:ext cx="2139585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 或 BLOCK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932639" y="3849602"/>
            <a:ext cx="4727202" cy="0"/>
          </a:xfrm>
          <a:prstGeom prst="line">
            <a:avLst/>
          </a:prstGeom>
          <a:noFill/>
          <a:ln w="8890">
            <a:solidFill>
              <a:srgbClr val="E7ED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783" y="4005042"/>
            <a:ext cx="245960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单位含义不明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01391" y="4005042"/>
            <a:ext cx="2139585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禁止自动 PASS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932639" y="4425644"/>
            <a:ext cx="4727202" cy="0"/>
          </a:xfrm>
          <a:prstGeom prst="line">
            <a:avLst/>
          </a:prstGeom>
          <a:noFill/>
          <a:ln w="8890">
            <a:solidFill>
              <a:srgbClr val="E7ED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783" y="4581084"/>
            <a:ext cx="245960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批准后来源变化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01391" y="4581084"/>
            <a:ext cx="2139585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原批准不得继续生效</a:t>
            </a:r>
            <a:endParaRPr lang="en-US" sz="1210" dirty="0"/>
          </a:p>
        </p:txBody>
      </p:sp>
      <p:sp>
        <p:nvSpPr>
          <p:cNvPr id="25" name="Shape 23"/>
          <p:cNvSpPr/>
          <p:nvPr/>
        </p:nvSpPr>
        <p:spPr>
          <a:xfrm>
            <a:off x="932639" y="5001686"/>
            <a:ext cx="4727202" cy="0"/>
          </a:xfrm>
          <a:prstGeom prst="line">
            <a:avLst/>
          </a:prstGeom>
          <a:noFill/>
          <a:ln w="8890">
            <a:solidFill>
              <a:srgbClr val="E7ED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26740" y="1435712"/>
            <a:ext cx="5257526" cy="4004863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184" y="1719161"/>
            <a:ext cx="4727202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877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复制门｜过程必须脱离原作者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28476" y="2354636"/>
            <a:ext cx="73148" cy="73148"/>
          </a:xfrm>
          <a:prstGeom prst="ellipse">
            <a:avLst/>
          </a:prstGeom>
          <a:solidFill>
            <a:srgbClr val="2877AC"/>
          </a:solidFill>
          <a:ln w="12700">
            <a:solidFill>
              <a:srgbClr val="2877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633" y="2222055"/>
            <a:ext cx="4425465" cy="5211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干净环境独立部署，不靠原作者提示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6528476" y="2948965"/>
            <a:ext cx="73148" cy="73148"/>
          </a:xfrm>
          <a:prstGeom prst="ellipse">
            <a:avLst/>
          </a:prstGeom>
          <a:solidFill>
            <a:srgbClr val="2877AC"/>
          </a:solidFill>
          <a:ln w="12700">
            <a:solidFill>
              <a:srgbClr val="2877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633" y="2816384"/>
            <a:ext cx="4425465" cy="5211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新客户与旧客户 Eval 同时通过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528476" y="3543294"/>
            <a:ext cx="73148" cy="73148"/>
          </a:xfrm>
          <a:prstGeom prst="ellipse">
            <a:avLst/>
          </a:prstGeom>
          <a:solidFill>
            <a:srgbClr val="2877AC"/>
          </a:solidFill>
          <a:ln w="12700">
            <a:solidFill>
              <a:srgbClr val="2877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633" y="3410713"/>
            <a:ext cx="4425465" cy="5211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跨客户资料隔离与访问权限有证据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6528476" y="4137623"/>
            <a:ext cx="73148" cy="73148"/>
          </a:xfrm>
          <a:prstGeom prst="ellipse">
            <a:avLst/>
          </a:prstGeom>
          <a:solidFill>
            <a:srgbClr val="2877AC"/>
          </a:solidFill>
          <a:ln w="12700">
            <a:solidFill>
              <a:srgbClr val="2877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633" y="4005042"/>
            <a:ext cx="4425465" cy="5211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关键缺陷有可复现样本与处理结论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6528476" y="4731952"/>
            <a:ext cx="73148" cy="73148"/>
          </a:xfrm>
          <a:prstGeom prst="ellipse">
            <a:avLst/>
          </a:prstGeom>
          <a:solidFill>
            <a:srgbClr val="2877AC"/>
          </a:solidFill>
          <a:ln w="12700">
            <a:solidFill>
              <a:srgbClr val="2877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9633" y="4599371"/>
            <a:ext cx="4425465" cy="5211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实际工时、维护负担和额外定制均入账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676621" y="5687450"/>
            <a:ext cx="10789358" cy="502894"/>
          </a:xfrm>
          <a:prstGeom prst="roundRect">
            <a:avLst>
              <a:gd name="adj" fmla="val 21818"/>
            </a:avLst>
          </a:prstGeom>
          <a:solidFill>
            <a:srgbClr val="E1F2ED"/>
          </a:solidFill>
          <a:ln w="12700">
            <a:solidFill>
              <a:srgbClr val="E1F2ED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21" y="5687450"/>
            <a:ext cx="54861" cy="502894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35" y="5778886"/>
            <a:ext cx="10414474" cy="33831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“已测样本中 0 次严重误放行”并不意味着真实生产环境的风险为零。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9"/>
            <a:ext cx="146296" cy="6857643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186" y="311058"/>
            <a:ext cx="987500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目标实验｜第二套已授权水泵资料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42" y="649369"/>
            <a:ext cx="10880793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第二家客户不从“写新系统”开始，而从复用实验开始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85186" y="1170550"/>
            <a:ext cx="10999659" cy="0"/>
          </a:xfrm>
          <a:prstGeom prst="line">
            <a:avLst/>
          </a:prstGeom>
          <a:noFill/>
          <a:ln w="12700">
            <a:solidFill>
              <a:srgbClr val="DC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29" y="6501224"/>
            <a:ext cx="7314819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猴来工作室  /  临港OPC双选会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10422" y="6501224"/>
            <a:ext cx="1856135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  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03" y="1673443"/>
            <a:ext cx="2176159" cy="2212733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43" y="1856314"/>
            <a:ext cx="438889" cy="274306"/>
          </a:xfrm>
          <a:prstGeom prst="roundRect">
            <a:avLst>
              <a:gd name="adj" fmla="val 40000"/>
            </a:avLst>
          </a:prstGeom>
          <a:solidFill>
            <a:srgbClr val="DAEAF6"/>
          </a:solidFill>
          <a:ln w="12700">
            <a:solidFill>
              <a:srgbClr val="DAEA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43" y="1865457"/>
            <a:ext cx="438889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786343" y="2304347"/>
            <a:ext cx="1883566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资料授权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6343" y="2834671"/>
            <a:ext cx="1865279" cy="722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取得样本、明确来源和权限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2779631" y="2706662"/>
            <a:ext cx="301736" cy="0"/>
          </a:xfrm>
          <a:prstGeom prst="line">
            <a:avLst/>
          </a:prstGeom>
          <a:noFill/>
          <a:ln w="31750">
            <a:solidFill>
              <a:srgbClr val="138C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6506" y="2606083"/>
            <a:ext cx="201158" cy="201158"/>
          </a:xfrm>
          <a:prstGeom prst="chevron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44215" y="1673443"/>
            <a:ext cx="2176159" cy="2212733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9655" y="1856314"/>
            <a:ext cx="438889" cy="274306"/>
          </a:xfrm>
          <a:prstGeom prst="roundRect">
            <a:avLst>
              <a:gd name="adj" fmla="val 40000"/>
            </a:avLst>
          </a:prstGeom>
          <a:solidFill>
            <a:srgbClr val="DAEAF6"/>
          </a:solidFill>
          <a:ln w="12700">
            <a:solidFill>
              <a:srgbClr val="DAEA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9655" y="1865457"/>
            <a:ext cx="438889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3099655" y="2304347"/>
            <a:ext cx="1883566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配置映射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099655" y="2834671"/>
            <a:ext cx="1865279" cy="722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 / 单位 / 规则 / 角色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5092943" y="2706662"/>
            <a:ext cx="301736" cy="0"/>
          </a:xfrm>
          <a:prstGeom prst="line">
            <a:avLst/>
          </a:prstGeom>
          <a:noFill/>
          <a:ln w="31750">
            <a:solidFill>
              <a:srgbClr val="138C8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39818" y="2606083"/>
            <a:ext cx="201158" cy="201158"/>
          </a:xfrm>
          <a:prstGeom prst="chevron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526" y="1673443"/>
            <a:ext cx="2176159" cy="2212733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2966" y="1856314"/>
            <a:ext cx="438889" cy="274306"/>
          </a:xfrm>
          <a:prstGeom prst="roundRect">
            <a:avLst>
              <a:gd name="adj" fmla="val 40000"/>
            </a:avLst>
          </a:prstGeom>
          <a:solidFill>
            <a:srgbClr val="DAEAF6"/>
          </a:solidFill>
          <a:ln w="12700">
            <a:solidFill>
              <a:srgbClr val="DAEA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2966" y="1865457"/>
            <a:ext cx="438889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5412966" y="2304347"/>
            <a:ext cx="1883566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运行新旧 Eval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12966" y="2834671"/>
            <a:ext cx="1865279" cy="722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新客户测试 + 首客户回归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7406254" y="2706662"/>
            <a:ext cx="301736" cy="0"/>
          </a:xfrm>
          <a:prstGeom prst="line">
            <a:avLst/>
          </a:prstGeom>
          <a:noFill/>
          <a:ln w="31750">
            <a:solidFill>
              <a:srgbClr val="138C8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53129" y="2606083"/>
            <a:ext cx="201158" cy="201158"/>
          </a:xfrm>
          <a:prstGeom prst="chevron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70838" y="1673443"/>
            <a:ext cx="2176159" cy="2212733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278" y="1856314"/>
            <a:ext cx="438889" cy="274306"/>
          </a:xfrm>
          <a:prstGeom prst="roundRect">
            <a:avLst>
              <a:gd name="adj" fmla="val 40000"/>
            </a:avLst>
          </a:prstGeom>
          <a:solidFill>
            <a:srgbClr val="DAEAF6"/>
          </a:solidFill>
          <a:ln w="12700">
            <a:solidFill>
              <a:srgbClr val="DAEAF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278" y="1865457"/>
            <a:ext cx="438889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7726278" y="2304347"/>
            <a:ext cx="1883566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独立演示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726278" y="2834671"/>
            <a:ext cx="1865279" cy="722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 / 审批 / 日志与证据</a:t>
            </a:r>
            <a:endParaRPr lang="en-US" sz="1270" dirty="0"/>
          </a:p>
        </p:txBody>
      </p:sp>
      <p:sp>
        <p:nvSpPr>
          <p:cNvPr id="35" name="Shape 33"/>
          <p:cNvSpPr/>
          <p:nvPr/>
        </p:nvSpPr>
        <p:spPr>
          <a:xfrm>
            <a:off x="9719566" y="2706662"/>
            <a:ext cx="301736" cy="0"/>
          </a:xfrm>
          <a:prstGeom prst="line">
            <a:avLst/>
          </a:prstGeom>
          <a:noFill/>
          <a:ln w="31750">
            <a:solidFill>
              <a:srgbClr val="138C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66441" y="2606083"/>
            <a:ext cx="201158" cy="201158"/>
          </a:xfrm>
          <a:prstGeom prst="chevron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84149" y="1673443"/>
            <a:ext cx="2176159" cy="2212733"/>
          </a:xfrm>
          <a:prstGeom prst="roundRect">
            <a:avLst>
              <a:gd name="adj" fmla="val 5462"/>
            </a:avLst>
          </a:prstGeom>
          <a:solidFill>
            <a:srgbClr val="E1F2ED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39589" y="1856314"/>
            <a:ext cx="438889" cy="274306"/>
          </a:xfrm>
          <a:prstGeom prst="roundRect">
            <a:avLst>
              <a:gd name="adj" fmla="val 40000"/>
            </a:avLst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39589" y="1865457"/>
            <a:ext cx="438889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10039589" y="2304347"/>
            <a:ext cx="1883566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复盘决策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0039589" y="2834671"/>
            <a:ext cx="1865279" cy="7223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总工时、缺陷、成本、付费</a:t>
            </a:r>
            <a:endParaRPr lang="en-US" sz="1270" dirty="0"/>
          </a:p>
        </p:txBody>
      </p:sp>
      <p:sp>
        <p:nvSpPr>
          <p:cNvPr id="42" name="Shape 40"/>
          <p:cNvSpPr/>
          <p:nvPr/>
        </p:nvSpPr>
        <p:spPr>
          <a:xfrm>
            <a:off x="713195" y="4261061"/>
            <a:ext cx="5065512" cy="1088079"/>
          </a:xfrm>
          <a:prstGeom prst="roundRect">
            <a:avLst>
              <a:gd name="adj" fmla="val 10924"/>
            </a:avLst>
          </a:prstGeom>
          <a:solidFill>
            <a:srgbClr val="102437"/>
          </a:solidFill>
          <a:ln w="12700">
            <a:solidFill>
              <a:srgbClr val="10243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496" y="4489649"/>
            <a:ext cx="1956714" cy="5303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8人时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2871066" y="4581084"/>
            <a:ext cx="2651622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3E4E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沙箱接入的挑战目标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989008" y="4261061"/>
            <a:ext cx="5467827" cy="1088079"/>
          </a:xfrm>
          <a:prstGeom prst="roundRect">
            <a:avLst>
              <a:gd name="adj" fmla="val 10924"/>
            </a:avLst>
          </a:prstGeom>
          <a:solidFill>
            <a:srgbClr val="FFF6E8"/>
          </a:solidFill>
          <a:ln w="12700">
            <a:solidFill>
              <a:srgbClr val="F0E3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8453" y="4453075"/>
            <a:ext cx="5001507" cy="60347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不包含：商务采购、生产上线、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安全审查与长期运维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58912" y="5669163"/>
            <a:ext cx="10615631" cy="33831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A57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“第二客户一天接入”是未来沙箱实验目标，而不是既定交付能力或对外承诺。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8fe0082ab0cad4d0a594ff575015c8c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891530" cy="6858000"/>
          </a:xfrm>
          <a:prstGeom prst="rect">
            <a:avLst/>
          </a:prstGeom>
        </p:spPr>
      </p:pic>
      <p:pic>
        <p:nvPicPr>
          <p:cNvPr id="5" name="图片 4" descr="e5c529f026e4a0608fb4e2fec2b6c9c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895" y="0"/>
            <a:ext cx="63004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8fe0082ab0cad4d0a594ff575015c8c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96940" cy="6858000"/>
          </a:xfrm>
          <a:prstGeom prst="rect">
            <a:avLst/>
          </a:prstGeom>
        </p:spPr>
      </p:pic>
      <p:pic>
        <p:nvPicPr>
          <p:cNvPr id="5" name="图片 4" descr="93096905ffadbdb12c853f4fc92030b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940" y="0"/>
            <a:ext cx="62185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8775" y="83820"/>
            <a:ext cx="11617960" cy="67741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9"/>
            <a:ext cx="146296" cy="6857643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186" y="311058"/>
            <a:ext cx="987500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架构改变：少写重复代码，不削弱业务控制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42" y="649369"/>
            <a:ext cx="10880793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技术上的关键转换：客户定制应用 → 可复用核验核心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85186" y="1170550"/>
            <a:ext cx="10999659" cy="0"/>
          </a:xfrm>
          <a:prstGeom prst="line">
            <a:avLst/>
          </a:prstGeom>
          <a:noFill/>
          <a:ln w="12700">
            <a:solidFill>
              <a:srgbClr val="DC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29" y="6501224"/>
            <a:ext cx="7314819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猴来工作室  /  临港OPC双选会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10422" y="6501224"/>
            <a:ext cx="1856135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  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34" y="1426568"/>
            <a:ext cx="5193521" cy="3355673"/>
          </a:xfrm>
          <a:prstGeom prst="roundRect">
            <a:avLst>
              <a:gd name="adj" fmla="val 4087"/>
            </a:avLst>
          </a:prstGeom>
          <a:solidFill>
            <a:srgbClr val="FFF8F6"/>
          </a:solidFill>
          <a:ln w="12700">
            <a:solidFill>
              <a:srgbClr val="E8CF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065" y="1664300"/>
            <a:ext cx="4535188" cy="3748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A57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旧方式｜每来一家重新定制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41783" y="2331777"/>
            <a:ext cx="1371529" cy="61261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E6D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075" y="2441499"/>
            <a:ext cx="1197802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文件读取 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464" y="2331777"/>
            <a:ext cx="1371529" cy="61261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E6D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756" y="2441499"/>
            <a:ext cx="1197802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参数提取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59146" y="2331777"/>
            <a:ext cx="1371529" cy="61261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E6D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437" y="2441499"/>
            <a:ext cx="1197802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核验规则 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1783" y="3163838"/>
            <a:ext cx="1371529" cy="61261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E6D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075" y="3273560"/>
            <a:ext cx="1197802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审批界面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50464" y="3163838"/>
            <a:ext cx="1371529" cy="612616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12700">
            <a:solidFill>
              <a:srgbClr val="E6D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32756" y="3273560"/>
            <a:ext cx="1197802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异常恢复 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0926" y="4325065"/>
            <a:ext cx="4425465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BA57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重复开发 / 难以回归 / 原作者依赖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15860" y="3026685"/>
            <a:ext cx="301736" cy="0"/>
          </a:xfrm>
          <a:prstGeom prst="line">
            <a:avLst/>
          </a:prstGeom>
          <a:noFill/>
          <a:ln w="31750">
            <a:solidFill>
              <a:srgbClr val="138C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2735" y="2926106"/>
            <a:ext cx="201158" cy="201158"/>
          </a:xfrm>
          <a:prstGeom prst="chevron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5605" y="1426568"/>
            <a:ext cx="5175234" cy="3355673"/>
          </a:xfrm>
          <a:prstGeom prst="roundRect">
            <a:avLst>
              <a:gd name="adj" fmla="val 4087"/>
            </a:avLst>
          </a:prstGeom>
          <a:solidFill>
            <a:srgbClr val="E1F2ED"/>
          </a:solidFill>
          <a:ln w="12700">
            <a:solidFill>
              <a:srgbClr val="C3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5907" y="1664300"/>
            <a:ext cx="4562618" cy="39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新方式｜一个公共核验核心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555907" y="2295203"/>
            <a:ext cx="4663197" cy="722338"/>
          </a:xfrm>
          <a:prstGeom prst="roundRect">
            <a:avLst>
              <a:gd name="adj" fmla="val 12658"/>
            </a:avLst>
          </a:prstGeom>
          <a:solidFill>
            <a:srgbClr val="102437"/>
          </a:solidFill>
          <a:ln w="12700">
            <a:solidFill>
              <a:srgbClr val="10243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7921" y="2505504"/>
            <a:ext cx="4270026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 · 来源权威 · 规则 · 审批 · 审计 · Eval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65050" y="3227842"/>
            <a:ext cx="2221876" cy="886922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BEDD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1346" y="3410713"/>
            <a:ext cx="1929284" cy="475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客户资料映射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 / 角色配置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97227" y="3227842"/>
            <a:ext cx="2221876" cy="886922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BEDD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3524" y="3410713"/>
            <a:ext cx="1929284" cy="475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客户接口 / 连接器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新增评测样本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477" y="5093121"/>
            <a:ext cx="10853363" cy="731482"/>
          </a:xfrm>
          <a:prstGeom prst="roundRect">
            <a:avLst>
              <a:gd name="adj" fmla="val 15000"/>
            </a:avLst>
          </a:prstGeom>
          <a:solidFill>
            <a:srgbClr val="E1F2ED"/>
          </a:solidFill>
          <a:ln w="12700">
            <a:solidFill>
              <a:srgbClr val="E1F2E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477" y="5093121"/>
            <a:ext cx="54861" cy="731482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491" y="5184557"/>
            <a:ext cx="10478478" cy="5668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 用于开发与重构；运行时的确定性检查、权威来源及审批规则仍由业务系统明确控制。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d25662edd9d7081207afd42852bf1cc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105" y="-635"/>
            <a:ext cx="779081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41390" y="0"/>
            <a:ext cx="5410835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35915" y="0"/>
            <a:ext cx="5705475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9"/>
            <a:ext cx="146296" cy="6857643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186" y="311058"/>
            <a:ext cx="987500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GO · HOLD · STOP 管理门槛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42" y="649369"/>
            <a:ext cx="10880793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创始人不是</a:t>
            </a:r>
            <a:r>
              <a:rPr lang="zh-CN" alt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</a:t>
            </a:r>
            <a:r>
              <a:rPr 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“建平台”，而是分阶段购买证据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85186" y="1170550"/>
            <a:ext cx="10999659" cy="0"/>
          </a:xfrm>
          <a:prstGeom prst="line">
            <a:avLst/>
          </a:prstGeom>
          <a:noFill/>
          <a:ln w="12700">
            <a:solidFill>
              <a:srgbClr val="DC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29" y="6501224"/>
            <a:ext cx="7314819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猴来工作室  /  临港OPC双选会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10422" y="6501224"/>
            <a:ext cx="1856135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  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51" y="1481429"/>
            <a:ext cx="10761927" cy="932639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22" y="1655156"/>
            <a:ext cx="896065" cy="274306"/>
          </a:xfrm>
          <a:prstGeom prst="roundRect">
            <a:avLst>
              <a:gd name="adj" fmla="val 40000"/>
            </a:avLst>
          </a:prstGeom>
          <a:solidFill>
            <a:srgbClr val="DAEAF6"/>
          </a:solidFill>
          <a:ln w="12700">
            <a:solidFill>
              <a:srgbClr val="DAEA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22" y="1664300"/>
            <a:ext cx="896065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门槛 1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1938427" y="1700874"/>
            <a:ext cx="1353242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问题与付费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37965" y="1609439"/>
            <a:ext cx="4260882" cy="6766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客户授权提供真实样本、愿意讨论付费试点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36579" y="1655156"/>
            <a:ext cx="3227664" cy="539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2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</a:t>
            </a:r>
            <a:r>
              <a:rPr lang="en-US" sz="122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没有：继续访谈，不先做平台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04051" y="2551222"/>
            <a:ext cx="10761927" cy="932639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22" y="2724949"/>
            <a:ext cx="896065" cy="274306"/>
          </a:xfrm>
          <a:prstGeom prst="roundRect">
            <a:avLst>
              <a:gd name="adj" fmla="val 40000"/>
            </a:avLst>
          </a:prstGeom>
          <a:solidFill>
            <a:srgbClr val="DAEAF6"/>
          </a:solidFill>
          <a:ln w="12700">
            <a:solidFill>
              <a:srgbClr val="DAEA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22" y="2734092"/>
            <a:ext cx="896065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门槛 2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1938427" y="2770666"/>
            <a:ext cx="1353242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技术可靠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37965" y="2679231"/>
            <a:ext cx="4260882" cy="6766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可信来源校验、异常规则、审批链通过定义的 Eval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36579" y="2724949"/>
            <a:ext cx="3227664" cy="539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20" dirty="0">
                <a:solidFill>
                  <a:srgbClr val="BA57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</a:t>
            </a:r>
            <a:r>
              <a:rPr lang="en-US" sz="1220" dirty="0">
                <a:solidFill>
                  <a:srgbClr val="BA57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失败：修复安全缺陷，禁止自动放行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04051" y="3621014"/>
            <a:ext cx="10761927" cy="932639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22" y="3794741"/>
            <a:ext cx="896065" cy="274306"/>
          </a:xfrm>
          <a:prstGeom prst="roundRect">
            <a:avLst>
              <a:gd name="adj" fmla="val 40000"/>
            </a:avLst>
          </a:prstGeom>
          <a:solidFill>
            <a:srgbClr val="DAEAF6"/>
          </a:solidFill>
          <a:ln w="12700">
            <a:solidFill>
              <a:srgbClr val="DAEA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22" y="3803884"/>
            <a:ext cx="896065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门槛 3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1938427" y="3840459"/>
            <a:ext cx="1353242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复制成功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437965" y="3749023"/>
            <a:ext cx="4260882" cy="6766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新成员独立部署；新旧评测通过；完整工时可比较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36579" y="3794741"/>
            <a:ext cx="3227664" cy="539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2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</a:t>
            </a:r>
            <a:r>
              <a:rPr lang="en-US" sz="122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失败：复盘流程/能力，不宣称可复制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704051" y="4690806"/>
            <a:ext cx="10761927" cy="932639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22" y="4864533"/>
            <a:ext cx="896065" cy="274306"/>
          </a:xfrm>
          <a:prstGeom prst="roundRect">
            <a:avLst>
              <a:gd name="adj" fmla="val 40000"/>
            </a:avLst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22" y="4873677"/>
            <a:ext cx="896065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门槛 4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1938427" y="4910251"/>
            <a:ext cx="1353242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商业成立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437965" y="4818816"/>
            <a:ext cx="4260882" cy="67662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多个独立客户付费，贡献覆盖完整成本并可维持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36579" y="4864533"/>
            <a:ext cx="3227664" cy="539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22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</a:t>
            </a:r>
            <a:r>
              <a:rPr lang="en-US" sz="122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失败：降低投入或保留受控定制服务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713195" y="5989187"/>
            <a:ext cx="10761927" cy="411459"/>
          </a:xfrm>
          <a:prstGeom prst="roundRect">
            <a:avLst>
              <a:gd name="adj" fmla="val 26667"/>
            </a:avLst>
          </a:prstGeom>
          <a:solidFill>
            <a:srgbClr val="E1F2ED"/>
          </a:solidFill>
          <a:ln w="12700">
            <a:solidFill>
              <a:srgbClr val="E1F2E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195" y="5989187"/>
            <a:ext cx="54861" cy="411459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09" y="6080622"/>
            <a:ext cx="10387043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每一笔公共研发投入，都应回答：修复什么失败模式？产生什么可测试资产？不成功什么时候停止？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181" y="219623"/>
            <a:ext cx="3657410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E70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猴来工作室  /  HOULAI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424541" y="228767"/>
            <a:ext cx="4160303" cy="2011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E70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商业交易验证  ·  经营方法论与情景推演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12037" y="603651"/>
            <a:ext cx="11173386" cy="0"/>
          </a:xfrm>
          <a:prstGeom prst="line">
            <a:avLst/>
          </a:prstGeom>
          <a:noFill/>
          <a:ln w="11430">
            <a:solidFill>
              <a:srgbClr val="DB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68" y="786522"/>
            <a:ext cx="11063664" cy="5668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28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创始人把一次次临场谈判，变成可重复的 GO / HOLD / STOP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12037" y="6519511"/>
            <a:ext cx="11173386" cy="0"/>
          </a:xfrm>
          <a:prstGeom prst="line">
            <a:avLst/>
          </a:prstGeom>
          <a:noFill/>
          <a:ln w="10160">
            <a:solidFill>
              <a:srgbClr val="DB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24" y="6565229"/>
            <a:ext cx="8046301" cy="16458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B98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仅供双选会商业讨论｜模拟案例不代表真实客户、订单或回款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1109381" y="6546942"/>
            <a:ext cx="530324" cy="16458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B98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86922" y="1463142"/>
            <a:ext cx="7771995" cy="530324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DB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075" y="1572865"/>
            <a:ext cx="402315" cy="320023"/>
          </a:xfrm>
          <a:prstGeom prst="roundRect">
            <a:avLst>
              <a:gd name="adj" fmla="val 42857"/>
            </a:avLst>
          </a:prstGeom>
          <a:solidFill>
            <a:srgbClr val="E9F4FB"/>
          </a:solidFill>
          <a:ln w="10160">
            <a:solidFill>
              <a:srgbClr val="E9F4F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079" y="1572865"/>
            <a:ext cx="274306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6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45256" y="1527147"/>
            <a:ext cx="6866786" cy="39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8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是否存在可量化的业务问题？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6922" y="2176337"/>
            <a:ext cx="7771995" cy="530324"/>
          </a:xfrm>
          <a:prstGeom prst="roundRect">
            <a:avLst>
              <a:gd name="adj" fmla="val 20690"/>
            </a:avLst>
          </a:prstGeom>
          <a:solidFill>
            <a:srgbClr val="EAF1F8"/>
          </a:solidFill>
          <a:ln w="10160">
            <a:solidFill>
              <a:srgbClr val="DB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075" y="2286060"/>
            <a:ext cx="402315" cy="320023"/>
          </a:xfrm>
          <a:prstGeom prst="roundRect">
            <a:avLst>
              <a:gd name="adj" fmla="val 42857"/>
            </a:avLst>
          </a:prstGeom>
          <a:solidFill>
            <a:srgbClr val="E9F4FB"/>
          </a:solidFill>
          <a:ln w="10160">
            <a:solidFill>
              <a:srgbClr val="E9F4F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079" y="2286060"/>
            <a:ext cx="274306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6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45256" y="2240342"/>
            <a:ext cx="6866786" cy="39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8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是否找到采购决策人和预算？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6922" y="2889532"/>
            <a:ext cx="7771995" cy="530324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DB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075" y="2999254"/>
            <a:ext cx="402315" cy="320023"/>
          </a:xfrm>
          <a:prstGeom prst="roundRect">
            <a:avLst>
              <a:gd name="adj" fmla="val 42857"/>
            </a:avLst>
          </a:prstGeom>
          <a:solidFill>
            <a:srgbClr val="E9F4FB"/>
          </a:solidFill>
          <a:ln w="10160">
            <a:solidFill>
              <a:srgbClr val="E9F4F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079" y="2999254"/>
            <a:ext cx="274306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6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45256" y="2953537"/>
            <a:ext cx="6866786" cy="39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8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是否取得合法数据与测试授权？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6922" y="3602727"/>
            <a:ext cx="7771995" cy="530324"/>
          </a:xfrm>
          <a:prstGeom prst="roundRect">
            <a:avLst>
              <a:gd name="adj" fmla="val 20690"/>
            </a:avLst>
          </a:prstGeom>
          <a:solidFill>
            <a:srgbClr val="EAF1F8"/>
          </a:solidFill>
          <a:ln w="10160">
            <a:solidFill>
              <a:srgbClr val="DB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075" y="3712449"/>
            <a:ext cx="402315" cy="320023"/>
          </a:xfrm>
          <a:prstGeom prst="roundRect">
            <a:avLst>
              <a:gd name="adj" fmla="val 42857"/>
            </a:avLst>
          </a:prstGeom>
          <a:solidFill>
            <a:srgbClr val="E9F4FB"/>
          </a:solidFill>
          <a:ln w="10160">
            <a:solidFill>
              <a:srgbClr val="E9F4F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079" y="3712449"/>
            <a:ext cx="274306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6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45256" y="3666732"/>
            <a:ext cx="6866786" cy="39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428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合同范围与验收能否固定？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6922" y="4315922"/>
            <a:ext cx="7771995" cy="530324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DB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075" y="4425644"/>
            <a:ext cx="402315" cy="320023"/>
          </a:xfrm>
          <a:prstGeom prst="roundRect">
            <a:avLst>
              <a:gd name="adj" fmla="val 42857"/>
            </a:avLst>
          </a:prstGeom>
          <a:solidFill>
            <a:srgbClr val="E9F4FB"/>
          </a:solidFill>
          <a:ln w="10160">
            <a:solidFill>
              <a:srgbClr val="E9F4F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8079" y="4425644"/>
            <a:ext cx="274306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6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45256" y="4379926"/>
            <a:ext cx="6866786" cy="3931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28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考虑失败获客后仍有经济性？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905792" y="1499716"/>
            <a:ext cx="2441321" cy="1106366"/>
          </a:xfrm>
          <a:prstGeom prst="roundRect">
            <a:avLst>
              <a:gd name="adj" fmla="val 9917"/>
            </a:avLst>
          </a:prstGeom>
          <a:solidFill>
            <a:srgbClr val="E9F6F1"/>
          </a:solidFill>
          <a:ln w="10160">
            <a:solidFill>
              <a:srgbClr val="E9F6F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06950" y="1618582"/>
            <a:ext cx="804630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9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948154" y="1636869"/>
            <a:ext cx="1216089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28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全部满足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97806" y="2094046"/>
            <a:ext cx="2029862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E70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有限范围报价、确认付款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8905792" y="2816384"/>
            <a:ext cx="2441321" cy="1106366"/>
          </a:xfrm>
          <a:prstGeom prst="roundRect">
            <a:avLst>
              <a:gd name="adj" fmla="val 9917"/>
            </a:avLst>
          </a:prstGeom>
          <a:solidFill>
            <a:srgbClr val="FFF4E1"/>
          </a:solidFill>
          <a:ln w="10160">
            <a:solidFill>
              <a:srgbClr val="FFF4E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06950" y="2935250"/>
            <a:ext cx="804630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17B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HOLD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948154" y="2953537"/>
            <a:ext cx="1216089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28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采购条件暂缺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97806" y="3410713"/>
            <a:ext cx="2029862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E70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停止定制开发、保留线索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8905792" y="4142195"/>
            <a:ext cx="2441321" cy="1106366"/>
          </a:xfrm>
          <a:prstGeom prst="roundRect">
            <a:avLst>
              <a:gd name="adj" fmla="val 9917"/>
            </a:avLst>
          </a:prstGeom>
          <a:solidFill>
            <a:srgbClr val="FCEDED"/>
          </a:solidFill>
          <a:ln w="10160">
            <a:solidFill>
              <a:srgbClr val="FCEDE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06950" y="4261061"/>
            <a:ext cx="804630" cy="402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6534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STOP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948154" y="4279348"/>
            <a:ext cx="1216089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28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责任失衡 / 成本失控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97806" y="4736524"/>
            <a:ext cx="2029862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E708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拒绝继续投入</a:t>
            </a:r>
            <a:endParaRPr lang="en-US" sz="1070" dirty="0"/>
          </a:p>
        </p:txBody>
      </p:sp>
      <p:sp>
        <p:nvSpPr>
          <p:cNvPr id="41" name="Shape 39"/>
          <p:cNvSpPr/>
          <p:nvPr/>
        </p:nvSpPr>
        <p:spPr>
          <a:xfrm>
            <a:off x="987501" y="5541154"/>
            <a:ext cx="10341325" cy="530324"/>
          </a:xfrm>
          <a:prstGeom prst="roundRect">
            <a:avLst>
              <a:gd name="adj" fmla="val 20690"/>
            </a:avLst>
          </a:prstGeom>
          <a:solidFill>
            <a:srgbClr val="101B2E"/>
          </a:solidFill>
          <a:ln w="10160">
            <a:solidFill>
              <a:srgbClr val="101B2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70950" y="5605159"/>
            <a:ext cx="9783570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9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决策记录至少留下：事实依据｜关键风险｜授权人｜批准工时｜验收与止损条件</a:t>
            </a:r>
            <a:endParaRPr lang="en-US" sz="149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9"/>
            <a:ext cx="146296" cy="6857643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186" y="311058"/>
            <a:ext cx="987500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真正可积累的资产：业务、技术、交付、经营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76042" y="649369"/>
            <a:ext cx="10880793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每完成一家客户，团队究竟留下了什么？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85186" y="1170550"/>
            <a:ext cx="10999659" cy="0"/>
          </a:xfrm>
          <a:prstGeom prst="line">
            <a:avLst/>
          </a:prstGeom>
          <a:noFill/>
          <a:ln w="12700">
            <a:solidFill>
              <a:srgbClr val="DC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29" y="6501224"/>
            <a:ext cx="7314819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猴来工作室  /  临港OPC双选会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10422" y="6501224"/>
            <a:ext cx="1856135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  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477" y="1435712"/>
            <a:ext cx="10835076" cy="100578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477" y="1435712"/>
            <a:ext cx="91435" cy="1005788"/>
          </a:xfrm>
          <a:prstGeom prst="rect">
            <a:avLst/>
          </a:prstGeom>
          <a:solidFill>
            <a:srgbClr val="138C84"/>
          </a:solidFill>
          <a:ln w="12700">
            <a:solidFill>
              <a:srgbClr val="138C8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09" y="1618582"/>
            <a:ext cx="640047" cy="58518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38C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645834" y="1563721"/>
            <a:ext cx="3090511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业务规则与异常样本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834" y="1966036"/>
            <a:ext cx="406886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参数定义 / 单位 / 权威版本 / 失败案例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21647" y="1728305"/>
            <a:ext cx="4196877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下一个客户少走业务理解弯路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477" y="2596939"/>
            <a:ext cx="10835076" cy="100578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477" y="2596939"/>
            <a:ext cx="91435" cy="1005788"/>
          </a:xfrm>
          <a:prstGeom prst="rect">
            <a:avLst/>
          </a:prstGeom>
          <a:solidFill>
            <a:srgbClr val="2877AC"/>
          </a:solidFill>
          <a:ln w="12700">
            <a:solidFill>
              <a:srgbClr val="2877A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09" y="2779810"/>
            <a:ext cx="640047" cy="58518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77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45834" y="2724949"/>
            <a:ext cx="3090511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版本化的公共核验核心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834" y="3127264"/>
            <a:ext cx="406886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共用模块 / 测试 / 受控审批状态机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21647" y="2889532"/>
            <a:ext cx="4196877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避免重新建设整个应用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7477" y="3758167"/>
            <a:ext cx="10835076" cy="100578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477" y="3758167"/>
            <a:ext cx="91435" cy="1005788"/>
          </a:xfrm>
          <a:prstGeom prst="rect">
            <a:avLst/>
          </a:prstGeom>
          <a:solidFill>
            <a:srgbClr val="D59E50"/>
          </a:solidFill>
          <a:ln w="12700">
            <a:solidFill>
              <a:srgbClr val="D59E5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09" y="3941037"/>
            <a:ext cx="640047" cy="58518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D59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1645834" y="3886176"/>
            <a:ext cx="3090511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独立可执行的交付手册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45834" y="4288491"/>
            <a:ext cx="406886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/ 配置范式 / 部署步骤 / 回归门禁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21647" y="4050760"/>
            <a:ext cx="4196877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非原作者也能完成交付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7477" y="4919394"/>
            <a:ext cx="10835076" cy="100578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477" y="4919394"/>
            <a:ext cx="91435" cy="1005788"/>
          </a:xfrm>
          <a:prstGeom prst="rect">
            <a:avLst/>
          </a:prstGeom>
          <a:solidFill>
            <a:srgbClr val="BA574F"/>
          </a:solidFill>
          <a:ln w="12700">
            <a:solidFill>
              <a:srgbClr val="BA574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09" y="5102265"/>
            <a:ext cx="640047" cy="58518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A57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1645834" y="5047404"/>
            <a:ext cx="3090511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24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可比较的经营记录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645834" y="5449719"/>
            <a:ext cx="4068868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5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客户获取 / 工时 / 外部费 / 研发摊销 / 维护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21647" y="5211987"/>
            <a:ext cx="4196877" cy="45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3C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判断规模化究竟赚不赚钱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60" y="283628"/>
            <a:ext cx="6400467" cy="2103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经营账本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60" y="612795"/>
            <a:ext cx="10972229" cy="4480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一单有“项目贡献”，不代表公司已经赚钱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30903" y="1124832"/>
            <a:ext cx="10953941" cy="38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示意算例：通过统一的50元/人时核算，防止公共研发成本被藏起来。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68056" y="1728305"/>
            <a:ext cx="5559262" cy="530324"/>
          </a:xfrm>
          <a:prstGeom prst="roundRect">
            <a:avLst>
              <a:gd name="adj" fmla="val 20690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14" y="1828883"/>
            <a:ext cx="3931715" cy="2925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82642" y="1828883"/>
            <a:ext cx="1170371" cy="301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20" b="1" dirty="0">
                <a:solidFill>
                  <a:srgbClr val="84D4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¥6,000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68056" y="2350064"/>
            <a:ext cx="5559262" cy="530324"/>
          </a:xfrm>
          <a:prstGeom prst="roundRect">
            <a:avLst>
              <a:gd name="adj" fmla="val 20690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14" y="2450643"/>
            <a:ext cx="3931715" cy="2925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项目人力 36h × ¥50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82642" y="2450643"/>
            <a:ext cx="1170371" cy="301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2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−¥1,800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768056" y="2971824"/>
            <a:ext cx="5559262" cy="530324"/>
          </a:xfrm>
          <a:prstGeom prst="roundRect">
            <a:avLst>
              <a:gd name="adj" fmla="val 20690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14" y="3072403"/>
            <a:ext cx="3931715" cy="2925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其他直接成本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82642" y="3072403"/>
            <a:ext cx="1170371" cy="301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2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−¥500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68056" y="3593583"/>
            <a:ext cx="5559262" cy="530324"/>
          </a:xfrm>
          <a:prstGeom prst="roundRect">
            <a:avLst>
              <a:gd name="adj" fmla="val 20690"/>
            </a:avLst>
          </a:prstGeom>
          <a:solidFill>
            <a:srgbClr val="1A3048"/>
          </a:solidFill>
          <a:ln w="12700">
            <a:solidFill>
              <a:srgbClr val="24B6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14" y="3694162"/>
            <a:ext cx="3931715" cy="2925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项目贡献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82642" y="3694162"/>
            <a:ext cx="1170371" cy="301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2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¥3,700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768056" y="4215343"/>
            <a:ext cx="5559262" cy="530324"/>
          </a:xfrm>
          <a:prstGeom prst="roundRect">
            <a:avLst>
              <a:gd name="adj" fmla="val 20690"/>
            </a:avLst>
          </a:prstGeom>
          <a:solidFill>
            <a:srgbClr val="14243A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14" y="4315922"/>
            <a:ext cx="3931715" cy="2925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公共研发分摊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82642" y="4315922"/>
            <a:ext cx="1170371" cy="301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2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−¥1,800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768056" y="4837103"/>
            <a:ext cx="5559262" cy="530324"/>
          </a:xfrm>
          <a:prstGeom prst="roundRect">
            <a:avLst>
              <a:gd name="adj" fmla="val 20690"/>
            </a:avLst>
          </a:prstGeom>
          <a:solidFill>
            <a:srgbClr val="1A3048"/>
          </a:solidFill>
          <a:ln w="12700">
            <a:solidFill>
              <a:srgbClr val="24B6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14" y="4937681"/>
            <a:ext cx="3931715" cy="2925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阶段贡献（未扣管理费和税）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4882642" y="4937681"/>
            <a:ext cx="1170371" cy="301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20" b="1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¥1,900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6629055" y="1865457"/>
            <a:ext cx="4745489" cy="3145372"/>
          </a:xfrm>
          <a:prstGeom prst="roundRect">
            <a:avLst>
              <a:gd name="adj" fmla="val 3488"/>
            </a:avLst>
          </a:prstGeom>
          <a:solidFill>
            <a:srgbClr val="1A3048"/>
          </a:solidFill>
          <a:ln w="12700">
            <a:solidFill>
              <a:srgbClr val="2F47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5930" y="2158050"/>
            <a:ext cx="4242595" cy="4114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DF4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如果只看项目直接成本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94217" y="2651800"/>
            <a:ext cx="4087155" cy="640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4B6A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41.1%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6875930" y="3264417"/>
            <a:ext cx="4096299" cy="2560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6B8C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项目贡献率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12504" y="3694162"/>
            <a:ext cx="4160303" cy="0"/>
          </a:xfrm>
          <a:prstGeom prst="line">
            <a:avLst/>
          </a:prstGeom>
          <a:noFill/>
          <a:ln w="17780">
            <a:solidFill>
              <a:srgbClr val="2F47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85073" y="3904463"/>
            <a:ext cx="4087155" cy="4480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考虑公共研发后：21.1%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30903" y="5970900"/>
            <a:ext cx="10917367" cy="365741"/>
          </a:xfrm>
          <a:prstGeom prst="roundRect">
            <a:avLst>
              <a:gd name="adj" fmla="val 30000"/>
            </a:avLst>
          </a:prstGeom>
          <a:solidFill>
            <a:srgbClr val="1A3048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17" y="5998330"/>
            <a:ext cx="10551626" cy="237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成本为个人前期项目价值和成本核算的预估</a:t>
            </a:r>
            <a:r>
              <a:rPr lang="en-US" sz="11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</a:t>
            </a:r>
            <a:r>
              <a:rPr lang="zh-CN" altLang="en-US" sz="11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仅代表已成交的订单收益情况</a:t>
            </a:r>
            <a:r>
              <a:rPr lang="zh-CN" altLang="en-US" sz="11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预估。</a:t>
            </a:r>
            <a:r>
              <a:rPr lang="en-US" sz="1100" dirty="0">
                <a:solidFill>
                  <a:srgbClr val="F0BD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真正的公司净利润还需扣管理费、税费等。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275" y="6510368"/>
            <a:ext cx="799958" cy="299984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70849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 i="0">
                <a:solidFill>
                  <a:srgbClr val="188F8A"/>
                </a:solidFill>
                <a:latin typeface="微软雅黑"/>
              </a:rPr>
              <a:t>07 / REUSE EVIDENCE</a:t>
            </a:r>
            <a:endParaRPr sz="900" b="1" i="0">
              <a:solidFill>
                <a:srgbClr val="188F8A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30186"/>
            <a:ext cx="10972800" cy="3867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 i="0">
                <a:solidFill>
                  <a:srgbClr val="14243F"/>
                </a:solidFill>
                <a:latin typeface="微软雅黑"/>
              </a:rPr>
              <a:t> </a:t>
            </a:r>
            <a:r>
              <a:rPr lang="zh-CN" sz="2400" b="1" i="0">
                <a:solidFill>
                  <a:srgbClr val="14243F"/>
                </a:solidFill>
                <a:latin typeface="微软雅黑"/>
              </a:rPr>
              <a:t>经前</a:t>
            </a:r>
            <a:r>
              <a:rPr lang="zh-CN" sz="2400" b="1" i="0">
                <a:solidFill>
                  <a:srgbClr val="14243F"/>
                </a:solidFill>
                <a:latin typeface="微软雅黑"/>
              </a:rPr>
              <a:t>三次交付过程，</a:t>
            </a:r>
            <a:r>
              <a:rPr lang="zh-CN" sz="2400" b="1" i="0">
                <a:solidFill>
                  <a:srgbClr val="14243F"/>
                </a:solidFill>
                <a:latin typeface="微软雅黑"/>
              </a:rPr>
              <a:t>团队取得</a:t>
            </a:r>
            <a:r>
              <a:rPr sz="2400" b="1">
                <a:solidFill>
                  <a:srgbClr val="14243F"/>
                </a:solidFill>
                <a:latin typeface="微软雅黑"/>
                <a:sym typeface="+mn-ea"/>
              </a:rPr>
              <a:t>54.2%</a:t>
            </a:r>
            <a:r>
              <a:rPr lang="zh-CN" sz="2400" b="1">
                <a:solidFill>
                  <a:srgbClr val="14243F"/>
                </a:solidFill>
                <a:latin typeface="微软雅黑"/>
                <a:sym typeface="+mn-ea"/>
              </a:rPr>
              <a:t>的内部总工时</a:t>
            </a:r>
            <a:r>
              <a:rPr lang="zh-CN" sz="2400" b="1">
                <a:solidFill>
                  <a:srgbClr val="14243F"/>
                </a:solidFill>
                <a:latin typeface="微软雅黑"/>
                <a:sym typeface="+mn-ea"/>
              </a:rPr>
              <a:t>降幅</a:t>
            </a:r>
            <a:endParaRPr lang="zh-CN" sz="2400" b="1">
              <a:solidFill>
                <a:srgbClr val="14243F"/>
              </a:solidFill>
              <a:latin typeface="微软雅黑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80" b="0" i="0">
                <a:solidFill>
                  <a:srgbClr val="667085"/>
                </a:solidFill>
                <a:latin typeface="微软雅黑"/>
              </a:rPr>
              <a:t>必须分清代码模块复用、工程工时下降与商业模式复制；三者需要不同证据。</a:t>
            </a:r>
            <a:endParaRPr sz="1080" b="0" i="0">
              <a:solidFill>
                <a:srgbClr val="667085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67085"/>
                </a:solidFill>
                <a:latin typeface="微软雅黑"/>
              </a:rPr>
              <a:t>HOULAI STUDIO  /  猴来工作室</a:t>
            </a:r>
            <a:endParaRPr sz="800" b="0" i="0">
              <a:solidFill>
                <a:srgbClr val="66708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69880" y="652881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800" b="0" i="0">
                <a:solidFill>
                  <a:srgbClr val="667085"/>
                </a:solidFill>
                <a:latin typeface="微软雅黑"/>
              </a:rPr>
              <a:t>主讲  08</a:t>
            </a:r>
            <a:endParaRPr sz="800" b="0" i="0">
              <a:solidFill>
                <a:srgbClr val="66708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544068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 i="0">
                <a:solidFill>
                  <a:srgbClr val="14243F"/>
                </a:solidFill>
                <a:latin typeface="微软雅黑"/>
              </a:rPr>
              <a:t>哪些可能复用？哪些必须重验？</a:t>
            </a:r>
            <a:endParaRPr sz="1400" b="1" i="0">
              <a:solidFill>
                <a:srgbClr val="14243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2381060"/>
            <a:ext cx="2304288" cy="3219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 i="0">
                <a:solidFill>
                  <a:srgbClr val="11716E"/>
                </a:solidFill>
                <a:latin typeface="微软雅黑"/>
              </a:rPr>
              <a:t>共用工程机制</a:t>
            </a:r>
            <a:endParaRPr sz="2000" b="1" i="0">
              <a:solidFill>
                <a:srgbClr val="11716E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724912"/>
            <a:ext cx="2304288" cy="2092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文件解析框架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结构化字段处理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差异比较与来源定位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人工审核和审计流程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Eval 运行器与报告</a:t>
            </a:r>
            <a:endParaRPr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0128" y="2381060"/>
            <a:ext cx="2468880" cy="3219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 i="0">
                <a:solidFill>
                  <a:srgbClr val="E9A15A"/>
                </a:solidFill>
                <a:latin typeface="微软雅黑"/>
              </a:rPr>
              <a:t>客户/行业差异</a:t>
            </a:r>
            <a:endParaRPr sz="2000" b="1" i="0">
              <a:solidFill>
                <a:srgbClr val="E9A15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0128" y="2724912"/>
            <a:ext cx="2487168" cy="2369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</a:t>
            </a:r>
            <a:r>
              <a:rPr lang="zh-CN" b="0" i="0">
                <a:solidFill>
                  <a:srgbClr val="243247"/>
                </a:solidFill>
                <a:latin typeface="微软雅黑"/>
              </a:rPr>
              <a:t>不同泵类型</a:t>
            </a:r>
            <a:r>
              <a:rPr b="0" i="0">
                <a:solidFill>
                  <a:srgbClr val="243247"/>
                </a:solidFill>
                <a:latin typeface="微软雅黑"/>
              </a:rPr>
              <a:t>参数语义与规则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单位、适用工况和字段映射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权威版本与审批权限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客户接口和部署环境</a:t>
            </a:r>
            <a:endParaRPr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b="0" i="0">
                <a:solidFill>
                  <a:srgbClr val="243247"/>
                </a:solidFill>
                <a:latin typeface="微软雅黑"/>
              </a:rPr>
              <a:t>• 新领域 Eval 与严重错误阈值</a:t>
            </a:r>
            <a:endParaRPr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91072" y="1847088"/>
            <a:ext cx="5230368" cy="3337560"/>
          </a:xfrm>
          <a:prstGeom prst="roundRect">
            <a:avLst/>
          </a:prstGeom>
          <a:solidFill>
            <a:srgbClr val="EDF2F8"/>
          </a:solidFill>
          <a:ln w="1016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 i="0">
                <a:solidFill>
                  <a:srgbClr val="14243F"/>
                </a:solidFill>
                <a:latin typeface="微软雅黑"/>
              </a:rPr>
              <a:t>模拟数据：仅解释计算口径</a:t>
            </a:r>
            <a:endParaRPr sz="1400" b="1" i="0">
              <a:solidFill>
                <a:srgbClr val="14243F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60" y="2450592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667085"/>
                </a:solidFill>
                <a:latin typeface="微软雅黑"/>
              </a:rPr>
              <a:t>首次部署</a:t>
            </a:r>
            <a:endParaRPr sz="1000" b="1" i="0">
              <a:solidFill>
                <a:srgbClr val="667085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37960" y="2706624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1" i="0">
                <a:solidFill>
                  <a:srgbClr val="14243F"/>
                </a:solidFill>
                <a:latin typeface="微软雅黑"/>
              </a:rPr>
              <a:t>48 人时</a:t>
            </a:r>
            <a:endParaRPr sz="2200" b="1" i="0">
              <a:solidFill>
                <a:srgbClr val="14243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23960" y="2450592"/>
            <a:ext cx="214884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667085"/>
                </a:solidFill>
                <a:latin typeface="微软雅黑"/>
              </a:rPr>
              <a:t>相似场景复用</a:t>
            </a:r>
            <a:endParaRPr sz="1000" b="1" i="0">
              <a:solidFill>
                <a:srgbClr val="667085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23960" y="2706624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1" i="0">
                <a:solidFill>
                  <a:srgbClr val="11716E"/>
                </a:solidFill>
                <a:latin typeface="微软雅黑"/>
              </a:rPr>
              <a:t>22 人时</a:t>
            </a:r>
            <a:endParaRPr sz="2200" b="1" i="0">
              <a:solidFill>
                <a:srgbClr val="11716E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37960" y="3273552"/>
            <a:ext cx="4526280" cy="576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364992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14243F"/>
                </a:solidFill>
                <a:latin typeface="微软雅黑"/>
              </a:rPr>
              <a:t>总工时降幅：(48−22) / 48 = 54.2%</a:t>
            </a:r>
            <a:endParaRPr sz="1200" b="1" i="0">
              <a:solidFill>
                <a:srgbClr val="14243F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3986784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10" b="0" i="0">
                <a:solidFill>
                  <a:srgbClr val="243247"/>
                </a:solidFill>
                <a:latin typeface="微软雅黑"/>
              </a:rPr>
              <a:t>若某重复编码模块从 10h 降至 1.5h，该模块降幅为 85%；</a:t>
            </a:r>
            <a:endParaRPr sz="1010" b="0" i="0">
              <a:solidFill>
                <a:srgbClr val="243247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10" b="0" i="0">
                <a:solidFill>
                  <a:srgbClr val="243247"/>
                </a:solidFill>
                <a:latin typeface="微软雅黑"/>
              </a:rPr>
              <a:t>这不代表整体交付时间也下降 85%。</a:t>
            </a:r>
            <a:endParaRPr sz="1010" b="0" i="0">
              <a:solidFill>
                <a:srgbClr val="243247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37960" y="4778502"/>
            <a:ext cx="4572000" cy="144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 i="0">
                <a:solidFill>
                  <a:srgbClr val="E9A15A"/>
                </a:solidFill>
                <a:latin typeface="微软雅黑"/>
              </a:rPr>
              <a:t>以上 48h / 22h / 10h / 1.5h </a:t>
            </a:r>
            <a:r>
              <a:rPr lang="zh-CN" sz="900" b="1" i="0">
                <a:solidFill>
                  <a:srgbClr val="E9A15A"/>
                </a:solidFill>
                <a:latin typeface="微软雅黑"/>
              </a:rPr>
              <a:t>均</a:t>
            </a:r>
            <a:r>
              <a:rPr sz="900" b="1" i="0">
                <a:solidFill>
                  <a:srgbClr val="E9A15A"/>
                </a:solidFill>
                <a:latin typeface="微软雅黑"/>
              </a:rPr>
              <a:t>为</a:t>
            </a:r>
            <a:r>
              <a:rPr lang="zh-CN" sz="900" b="1" i="0">
                <a:solidFill>
                  <a:srgbClr val="E9A15A"/>
                </a:solidFill>
                <a:latin typeface="微软雅黑"/>
              </a:rPr>
              <a:t>对前两次</a:t>
            </a:r>
            <a:r>
              <a:rPr lang="zh-CN" sz="900" b="1" i="0">
                <a:solidFill>
                  <a:srgbClr val="E9A15A"/>
                </a:solidFill>
                <a:latin typeface="微软雅黑"/>
              </a:rPr>
              <a:t>真实交付过程时长的预估</a:t>
            </a:r>
            <a:r>
              <a:rPr sz="900" b="1" i="0">
                <a:solidFill>
                  <a:srgbClr val="E9A15A"/>
                </a:solidFill>
                <a:latin typeface="微软雅黑"/>
              </a:rPr>
              <a:t>值。</a:t>
            </a:r>
            <a:endParaRPr sz="900" b="1" i="0">
              <a:solidFill>
                <a:srgbClr val="E9A15A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9808" y="5358384"/>
            <a:ext cx="10744200" cy="713232"/>
          </a:xfrm>
          <a:prstGeom prst="roundRect">
            <a:avLst/>
          </a:prstGeom>
          <a:solidFill>
            <a:srgbClr val="14243F"/>
          </a:solidFill>
          <a:ln w="10160">
            <a:solidFill>
              <a:srgbClr val="14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449824"/>
            <a:ext cx="10332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20" b="0" i="0">
                <a:solidFill>
                  <a:srgbClr val="FFFFFF"/>
                </a:solidFill>
                <a:latin typeface="微软雅黑"/>
              </a:rPr>
              <a:t>正式验证：恢复首单历史记录 → 先测第二家相似水泵企业 → 再测阀门；记录需求、公共研发、适配、测试、部署、售后全量工时。</a:t>
            </a:r>
            <a:endParaRPr sz="1020" b="0" i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100579"/>
          </a:xfrm>
          <a:prstGeom prst="rect">
            <a:avLst/>
          </a:prstGeom>
          <a:solidFill>
            <a:srgbClr val="14263F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473" y="265341"/>
            <a:ext cx="4571762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HOU LAI  /  猴来工作室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12616" y="603651"/>
            <a:ext cx="1005787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kern="0" spc="8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/  从一次性定制，到可复制资产</a:t>
            </a:r>
            <a:endParaRPr lang="en-US" sz="1040" dirty="0"/>
          </a:p>
        </p:txBody>
      </p:sp>
      <p:sp>
        <p:nvSpPr>
          <p:cNvPr id="5" name="Text 3"/>
          <p:cNvSpPr/>
          <p:nvPr/>
        </p:nvSpPr>
        <p:spPr>
          <a:xfrm>
            <a:off x="603473" y="923674"/>
            <a:ext cx="11063664" cy="58518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第二家、第三家客户，是对“复用能力”的压力测试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60" y="1554578"/>
            <a:ext cx="10835076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先验证另一家水泵厂，再在条件成熟时尝试阀门企业，</a:t>
            </a:r>
            <a:r>
              <a:rPr lang="zh-CN" altLang="en-US" sz="14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由此形成规模化</a:t>
            </a:r>
            <a:r>
              <a:rPr lang="zh-CN" altLang="en-US" sz="14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软件交付的团队能力</a:t>
            </a:r>
            <a:r>
              <a:rPr lang="en-US" sz="14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10953941" y="329345"/>
            <a:ext cx="658334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60" y="2222055"/>
            <a:ext cx="3492826" cy="2039006"/>
          </a:xfrm>
          <a:prstGeom prst="roundRect">
            <a:avLst>
              <a:gd name="adj" fmla="val 717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487" y="2386638"/>
            <a:ext cx="2194446" cy="292593"/>
          </a:xfrm>
          <a:prstGeom prst="roundRect">
            <a:avLst>
              <a:gd name="adj" fmla="val 31250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35" y="2403096"/>
            <a:ext cx="2048149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14D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已知事实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804630" y="2816384"/>
            <a:ext cx="3108798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P-01 · 首家水泵厂</a:t>
            </a:r>
            <a:endParaRPr lang="en-US" sz="1640" dirty="0"/>
          </a:p>
        </p:txBody>
      </p:sp>
      <p:sp>
        <p:nvSpPr>
          <p:cNvPr id="12" name="Text 10"/>
          <p:cNvSpPr/>
          <p:nvPr/>
        </p:nvSpPr>
        <p:spPr>
          <a:xfrm>
            <a:off x="804630" y="3255273"/>
            <a:ext cx="3090511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有真实项目基础</a:t>
            </a:r>
            <a:endParaRPr lang="en-US" sz="1370" dirty="0"/>
          </a:p>
        </p:txBody>
      </p:sp>
      <p:sp>
        <p:nvSpPr>
          <p:cNvPr id="13" name="Text 11"/>
          <p:cNvSpPr/>
          <p:nvPr/>
        </p:nvSpPr>
        <p:spPr>
          <a:xfrm>
            <a:off x="804630" y="3639301"/>
            <a:ext cx="3072224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6,000元合同／现场经验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4343174" y="2222055"/>
            <a:ext cx="3492826" cy="2039006"/>
          </a:xfrm>
          <a:prstGeom prst="roundRect">
            <a:avLst>
              <a:gd name="adj" fmla="val 717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6901" y="2386638"/>
            <a:ext cx="2194446" cy="292593"/>
          </a:xfrm>
          <a:prstGeom prst="roundRect">
            <a:avLst>
              <a:gd name="adj" fmla="val 31250"/>
            </a:avLst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049" y="2403096"/>
            <a:ext cx="2048149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拟验证 · 尚未成交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4526044" y="2816384"/>
            <a:ext cx="3108798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P-02 · 第二家水泵厂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4526044" y="3255273"/>
            <a:ext cx="3090511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验证同类复制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4526044" y="3639301"/>
            <a:ext cx="3072224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新文件、新字段、新审批流程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8064588" y="2222055"/>
            <a:ext cx="3492826" cy="2039006"/>
          </a:xfrm>
          <a:prstGeom prst="roundRect">
            <a:avLst>
              <a:gd name="adj" fmla="val 717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38315" y="2386638"/>
            <a:ext cx="2194446" cy="292593"/>
          </a:xfrm>
          <a:prstGeom prst="roundRect">
            <a:avLst>
              <a:gd name="adj" fmla="val 31250"/>
            </a:avLst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1463" y="2403096"/>
            <a:ext cx="2048149" cy="260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03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条件性探索 · 非订单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8247458" y="2816384"/>
            <a:ext cx="3108798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P-03 · 相邻阀门厂</a:t>
            </a:r>
            <a:endParaRPr lang="en-US" sz="1640" dirty="0"/>
          </a:p>
        </p:txBody>
      </p:sp>
      <p:sp>
        <p:nvSpPr>
          <p:cNvPr id="24" name="Text 22"/>
          <p:cNvSpPr/>
          <p:nvPr/>
        </p:nvSpPr>
        <p:spPr>
          <a:xfrm>
            <a:off x="8247458" y="3255273"/>
            <a:ext cx="3090511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检验横向扩展</a:t>
            </a:r>
            <a:endParaRPr lang="en-US" sz="1370" dirty="0"/>
          </a:p>
        </p:txBody>
      </p:sp>
      <p:sp>
        <p:nvSpPr>
          <p:cNvPr id="25" name="Text 23"/>
          <p:cNvSpPr/>
          <p:nvPr/>
        </p:nvSpPr>
        <p:spPr>
          <a:xfrm>
            <a:off x="8247458" y="3639301"/>
            <a:ext cx="3072224" cy="2377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行业工程规则可能显著不同</a:t>
            </a:r>
            <a:endParaRPr lang="en-US" sz="1170" dirty="0"/>
          </a:p>
        </p:txBody>
      </p:sp>
      <p:sp>
        <p:nvSpPr>
          <p:cNvPr id="26" name="Shape 24"/>
          <p:cNvSpPr/>
          <p:nvPr/>
        </p:nvSpPr>
        <p:spPr>
          <a:xfrm>
            <a:off x="4169447" y="3044972"/>
            <a:ext cx="192014" cy="301736"/>
          </a:xfrm>
          <a:prstGeom prst="chevron">
            <a:avLst/>
          </a:prstGeom>
          <a:solidFill>
            <a:srgbClr val="0E9387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90861" y="3044972"/>
            <a:ext cx="192014" cy="301736"/>
          </a:xfrm>
          <a:prstGeom prst="chevron">
            <a:avLst/>
          </a:prstGeom>
          <a:solidFill>
            <a:srgbClr val="0E9387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47" y="4590228"/>
            <a:ext cx="10835076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6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每完成一单，必须给下一单留下四类资产</a:t>
            </a:r>
            <a:endParaRPr lang="en-US" sz="1860" dirty="0"/>
          </a:p>
        </p:txBody>
      </p:sp>
      <p:sp>
        <p:nvSpPr>
          <p:cNvPr id="29" name="Shape 27"/>
          <p:cNvSpPr/>
          <p:nvPr/>
        </p:nvSpPr>
        <p:spPr>
          <a:xfrm>
            <a:off x="630903" y="5129695"/>
            <a:ext cx="2578474" cy="804630"/>
          </a:xfrm>
          <a:prstGeom prst="roundRect">
            <a:avLst>
              <a:gd name="adj" fmla="val 18182"/>
            </a:avLst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00" y="5285135"/>
            <a:ext cx="374884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179515" y="5275992"/>
            <a:ext cx="1901853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业务规则＋异常样本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3419678" y="5129695"/>
            <a:ext cx="2578474" cy="80463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5974" y="5285135"/>
            <a:ext cx="374884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968289" y="5275992"/>
            <a:ext cx="1901853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版本化公共核验内核</a:t>
            </a:r>
            <a:endParaRPr lang="en-US" sz="1270" dirty="0"/>
          </a:p>
        </p:txBody>
      </p:sp>
      <p:sp>
        <p:nvSpPr>
          <p:cNvPr id="35" name="Shape 33"/>
          <p:cNvSpPr/>
          <p:nvPr/>
        </p:nvSpPr>
        <p:spPr>
          <a:xfrm>
            <a:off x="6208453" y="5129695"/>
            <a:ext cx="2578474" cy="804630"/>
          </a:xfrm>
          <a:prstGeom prst="roundRect">
            <a:avLst>
              <a:gd name="adj" fmla="val 18182"/>
            </a:avLst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4749" y="5285135"/>
            <a:ext cx="374884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757064" y="5275992"/>
            <a:ext cx="1901853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独立部署与验收手册</a:t>
            </a:r>
            <a:endParaRPr lang="en-US" sz="1270" dirty="0"/>
          </a:p>
        </p:txBody>
      </p:sp>
      <p:sp>
        <p:nvSpPr>
          <p:cNvPr id="38" name="Shape 36"/>
          <p:cNvSpPr/>
          <p:nvPr/>
        </p:nvSpPr>
        <p:spPr>
          <a:xfrm>
            <a:off x="8997227" y="5129695"/>
            <a:ext cx="2578474" cy="80463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3524" y="5285135"/>
            <a:ext cx="374884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545839" y="5275992"/>
            <a:ext cx="1901853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工时、成本与价值数据</a:t>
            </a:r>
            <a:endParaRPr lang="en-US" sz="1270" dirty="0"/>
          </a:p>
        </p:txBody>
      </p:sp>
      <p:sp>
        <p:nvSpPr>
          <p:cNvPr id="41" name="Shape 39"/>
          <p:cNvSpPr/>
          <p:nvPr/>
        </p:nvSpPr>
        <p:spPr>
          <a:xfrm>
            <a:off x="612616" y="6501224"/>
            <a:ext cx="10963085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621760" y="6537798"/>
            <a:ext cx="10972229" cy="19201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严格区分：P-01有真实项目基础；P-02、P-03仅为后续验证路径，并非已签约或完成交付。</a:t>
            </a:r>
            <a:endParaRPr lang="en-US" sz="89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e6d8f4cbc9c6afd2d4f8b603b56b8a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80" y="0"/>
            <a:ext cx="107073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02448059ed57e5f2689d3d6876f9a9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930" y="0"/>
            <a:ext cx="107708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16B68"/>
                </a:solidFill>
                <a:latin typeface="微软雅黑"/>
              </a:rPr>
              <a:t>08 / COMMERCIAL MODEL</a:t>
            </a:r>
            <a:endParaRPr sz="900" b="1" i="0">
              <a:solidFill>
                <a:srgbClr val="116B68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sz="2500" b="1" i="0">
                <a:solidFill>
                  <a:srgbClr val="132238"/>
                </a:solidFill>
                <a:latin typeface="微软雅黑"/>
              </a:rPr>
              <a:t>新场景研发路线：</a:t>
            </a:r>
            <a:r>
              <a:rPr sz="2500" b="1" i="0">
                <a:solidFill>
                  <a:srgbClr val="132238"/>
                </a:solidFill>
                <a:latin typeface="微软雅黑"/>
              </a:rPr>
              <a:t>先用付费服务验证，再决定把什么做成产品</a:t>
            </a:r>
            <a:endParaRPr sz="25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</a:rPr>
              <a:t>每个阶段都必须有明确交付物、验收标准和停止条件；不预先承诺未知集成成本。</a:t>
            </a:r>
            <a:endParaRPr sz="11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4290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54864" cy="1444752"/>
          </a:xfrm>
          <a:prstGeom prst="rect">
            <a:avLst/>
          </a:prstGeom>
          <a:solidFill>
            <a:srgbClr val="19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75104"/>
            <a:ext cx="30449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98C88"/>
                </a:solidFill>
                <a:latin typeface="微软雅黑"/>
              </a:rPr>
              <a:t>先确认买什么</a:t>
            </a:r>
            <a:endParaRPr sz="850" b="1" i="0">
              <a:solidFill>
                <a:srgbClr val="198C88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" y="2221992"/>
            <a:ext cx="30449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2238"/>
                </a:solidFill>
                <a:latin typeface="微软雅黑"/>
              </a:rPr>
              <a:t>P0｜业务诊断</a:t>
            </a:r>
            <a:endParaRPr sz="14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" y="2660904"/>
            <a:ext cx="3044952" cy="7406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3244"/>
                </a:solidFill>
                <a:latin typeface="微软雅黑"/>
              </a:rPr>
              <a:t>交付：授权样本分析、问题与风险清单、范围和验收方案。</a:t>
            </a:r>
            <a:endParaRPr sz="10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3244"/>
                </a:solidFill>
                <a:latin typeface="微软雅黑"/>
              </a:rPr>
              <a:t>目标：确认问题是否高频、重要、可测量。</a:t>
            </a:r>
            <a:endParaRPr sz="10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938528"/>
            <a:ext cx="54864" cy="1444752"/>
          </a:xfrm>
          <a:prstGeom prst="rect">
            <a:avLst/>
          </a:prstGeom>
          <a:solidFill>
            <a:srgbClr val="D8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75104"/>
            <a:ext cx="30449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D88B3D"/>
                </a:solidFill>
                <a:latin typeface="微软雅黑"/>
              </a:rPr>
              <a:t>再证明交付价值</a:t>
            </a:r>
            <a:endParaRPr sz="850" b="1" i="0">
              <a:solidFill>
                <a:srgbClr val="D88B3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2221992"/>
            <a:ext cx="30449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2238"/>
                </a:solidFill>
                <a:latin typeface="微软雅黑"/>
              </a:rPr>
              <a:t>P1｜限定范围付费 Pilot</a:t>
            </a:r>
            <a:endParaRPr sz="14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2660904"/>
            <a:ext cx="3044952" cy="7406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3244"/>
                </a:solidFill>
                <a:latin typeface="微软雅黑"/>
              </a:rPr>
              <a:t>交付：可操作原型、差异清单、人工复核结果、部署工时与复用评估。</a:t>
            </a:r>
            <a:endParaRPr sz="10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3244"/>
                </a:solidFill>
                <a:latin typeface="微软雅黑"/>
              </a:rPr>
              <a:t>边界：不默认包含 ERP 写回。</a:t>
            </a:r>
            <a:endParaRPr sz="10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4290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938528"/>
            <a:ext cx="54864" cy="1444752"/>
          </a:xfrm>
          <a:prstGeom prst="rect">
            <a:avLst/>
          </a:prstGeom>
          <a:solidFill>
            <a:srgbClr val="34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975104"/>
            <a:ext cx="30449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47A5A"/>
                </a:solidFill>
                <a:latin typeface="微软雅黑"/>
              </a:rPr>
              <a:t>最后才做产品</a:t>
            </a:r>
            <a:endParaRPr sz="850" b="1" i="0">
              <a:solidFill>
                <a:srgbClr val="347A5A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84464" y="2221992"/>
            <a:ext cx="30449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2238"/>
                </a:solidFill>
                <a:latin typeface="微软雅黑"/>
              </a:rPr>
              <a:t>P2｜标准化 / 订阅</a:t>
            </a:r>
            <a:endParaRPr sz="14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84464" y="2660904"/>
            <a:ext cx="3044952" cy="7406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3244"/>
                </a:solidFill>
                <a:latin typeface="微软雅黑"/>
              </a:rPr>
              <a:t>触发条件：相似需求重复出现，公共模块可复用，质量稳定且客户愿持续付费。</a:t>
            </a:r>
            <a:endParaRPr sz="1050" b="0" i="0">
              <a:solidFill>
                <a:srgbClr val="243244"/>
              </a:solidFill>
              <a:latin typeface="微软雅黑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43244"/>
                </a:solidFill>
                <a:latin typeface="微软雅黑"/>
              </a:rPr>
              <a:t>未满足前不提前重投。</a:t>
            </a:r>
            <a:endParaRPr sz="10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38404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32238"/>
                </a:solidFill>
                <a:latin typeface="微软雅黑"/>
              </a:rPr>
              <a:t>未来 90 天的经营门槛</a:t>
            </a:r>
            <a:endParaRPr sz="15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13232" y="4279392"/>
            <a:ext cx="3401568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42569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98C88"/>
                </a:solidFill>
                <a:latin typeface="微软雅黑"/>
              </a:rPr>
              <a:t>0–30 天</a:t>
            </a:r>
            <a:endParaRPr sz="1000" b="1" i="0">
              <a:solidFill>
                <a:srgbClr val="198C88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92224" y="4407408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2238"/>
                </a:solidFill>
                <a:latin typeface="微软雅黑"/>
              </a:rPr>
              <a:t>补齐基线</a:t>
            </a:r>
            <a:endParaRPr sz="13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7824" y="4773168"/>
            <a:ext cx="30175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核实首单凭证；恢复历史工时，建立开发、适配、测试、部署与售后基线。</a:t>
            </a:r>
            <a:endParaRPr sz="9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370832" y="4279392"/>
            <a:ext cx="3401568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442569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88B3D"/>
                </a:solidFill>
                <a:latin typeface="微软雅黑"/>
              </a:rPr>
              <a:t>31–60 天</a:t>
            </a:r>
            <a:endParaRPr sz="1000" b="1" i="0">
              <a:solidFill>
                <a:srgbClr val="D88B3D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49824" y="4407408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2238"/>
                </a:solidFill>
                <a:latin typeface="微软雅黑"/>
              </a:rPr>
              <a:t>验证第二家</a:t>
            </a:r>
            <a:endParaRPr sz="13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35424" y="4773168"/>
            <a:ext cx="30175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完成 5—10 家企业访谈；确认问题频率、预算、决策人和数据授权条件。</a:t>
            </a:r>
            <a:endParaRPr sz="9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28431" y="4279392"/>
            <a:ext cx="3401568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3" y="442569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47A5A"/>
                </a:solidFill>
                <a:latin typeface="微软雅黑"/>
              </a:rPr>
              <a:t>61–90 天</a:t>
            </a:r>
            <a:endParaRPr sz="1000" b="1" i="0">
              <a:solidFill>
                <a:srgbClr val="347A5A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07424" y="4407408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32238"/>
                </a:solidFill>
                <a:latin typeface="微软雅黑"/>
              </a:rPr>
              <a:t>决定是否加投</a:t>
            </a:r>
            <a:endParaRPr sz="1300" b="1" i="0">
              <a:solidFill>
                <a:srgbClr val="132238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93023" y="4773168"/>
            <a:ext cx="3017520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44"/>
                </a:solidFill>
                <a:latin typeface="微软雅黑"/>
              </a:rPr>
              <a:t>筛选 2—3 家候选伙伴；争取 1 个付费试点，或基于证据作出调整决定。</a:t>
            </a:r>
            <a:endParaRPr sz="950" b="0" i="0">
              <a:solidFill>
                <a:srgbClr val="243244"/>
              </a:solidFill>
              <a:latin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31520" y="5596128"/>
            <a:ext cx="10561320" cy="420624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87568"/>
            <a:ext cx="10149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加大投入的门槛：重复痛点 + 真实付费 + 可复用流程 + 质量守住 + 完整成本合理。</a:t>
            </a:r>
            <a:endParaRPr sz="1050" b="1" i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5624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748B"/>
                </a:solidFill>
                <a:latin typeface="微软雅黑"/>
              </a:rPr>
              <a:t>HOULAI STUDIO  /  猴来工作室</a:t>
            </a:r>
            <a:endParaRPr sz="800" b="0" i="0">
              <a:solidFill>
                <a:srgbClr val="64748B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1320" y="654710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64748B"/>
                </a:solidFill>
                <a:latin typeface="微软雅黑"/>
              </a:rPr>
              <a:t>主讲  09</a:t>
            </a:r>
            <a:endParaRPr sz="800" b="0" i="0">
              <a:solidFill>
                <a:srgbClr val="64748B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186" y="365920"/>
            <a:ext cx="9143524" cy="2194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087F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·  A BUSINESS WE CAN REPEAT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76042" y="731660"/>
            <a:ext cx="11063664" cy="60347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4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稳定经营</a:t>
            </a:r>
            <a:r>
              <a:rPr lang="en-US" sz="2800" b="1" dirty="0">
                <a:solidFill>
                  <a:srgbClr val="14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商业模式：项目验证驱动产品研发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29" y="1380851"/>
            <a:ext cx="10789358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596B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客户为有明确交付物的服务付费；相似需求反复出现时，我们再投资软件标准化。</a:t>
            </a:r>
            <a:endParaRPr lang="en-US" sz="1280" dirty="0"/>
          </a:p>
        </p:txBody>
      </p:sp>
      <p:sp>
        <p:nvSpPr>
          <p:cNvPr id="5" name="Shape 3"/>
          <p:cNvSpPr/>
          <p:nvPr/>
        </p:nvSpPr>
        <p:spPr>
          <a:xfrm>
            <a:off x="521181" y="6510368"/>
            <a:ext cx="11155099" cy="0"/>
          </a:xfrm>
          <a:prstGeom prst="line">
            <a:avLst/>
          </a:prstGeom>
          <a:noFill/>
          <a:ln w="8890">
            <a:solidFill>
              <a:srgbClr val="DBE2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11" y="6556085"/>
            <a:ext cx="7771995" cy="17372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492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猴来工作室  ·  2026 临港 OPC 菁英双选会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63547" y="6537798"/>
            <a:ext cx="2148728" cy="19201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492A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主讲  06  ·  04:20–06:20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47" y="1847170"/>
            <a:ext cx="3501970" cy="1837848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 w="12700">
            <a:solidFill>
              <a:srgbClr val="DBE2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491" y="2030041"/>
            <a:ext cx="365741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F67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9491" y="2560365"/>
            <a:ext cx="3035650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4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付费核验服务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59491" y="2980967"/>
            <a:ext cx="3035650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96B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从真实资料和人工确认中验证价值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859491" y="3419856"/>
            <a:ext cx="3035650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F67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一次性 / 固定范围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174" y="1847170"/>
            <a:ext cx="3501970" cy="1837848"/>
          </a:xfrm>
          <a:prstGeom prst="roundRect">
            <a:avLst>
              <a:gd name="adj" fmla="val 3980"/>
            </a:avLst>
          </a:prstGeom>
          <a:solidFill>
            <a:srgbClr val="EDF6F4"/>
          </a:solidFill>
          <a:ln w="12700">
            <a:solidFill>
              <a:srgbClr val="A8DA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618" y="2030041"/>
            <a:ext cx="365741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75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2618" y="2560365"/>
            <a:ext cx="3035650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4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软件实施与许可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62618" y="2980967"/>
            <a:ext cx="3035650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96B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客户配置 + 公共核验模块 + 项目验收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4562618" y="3419856"/>
            <a:ext cx="3035650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75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实施费 / 使用许可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301" y="1847170"/>
            <a:ext cx="3501970" cy="1837848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 w="12700">
            <a:solidFill>
              <a:srgbClr val="DBE2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5745" y="2030041"/>
            <a:ext cx="365741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F67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5745" y="2560365"/>
            <a:ext cx="3035650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4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持续维护与改进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265745" y="2980967"/>
            <a:ext cx="3035650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96B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缺陷处理、规则升级、必要的FDE支持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8265745" y="3419856"/>
            <a:ext cx="3035650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3F67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维护费 / 扩展服务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34" y="4005042"/>
            <a:ext cx="6537619" cy="1828705"/>
          </a:xfrm>
          <a:prstGeom prst="roundRect">
            <a:avLst>
              <a:gd name="adj" fmla="val 4000"/>
            </a:avLst>
          </a:prstGeom>
          <a:solidFill>
            <a:srgbClr val="192F48"/>
          </a:solidFill>
          <a:ln w="12700">
            <a:solidFill>
              <a:srgbClr val="192F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065" y="4261061"/>
            <a:ext cx="6053013" cy="34745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一次受控研发投入，怎样形成可复制经济性？</a:t>
            </a:r>
            <a:endParaRPr lang="en-US" sz="1720" dirty="0"/>
          </a:p>
        </p:txBody>
      </p:sp>
      <p:sp>
        <p:nvSpPr>
          <p:cNvPr id="25" name="Text 23"/>
          <p:cNvSpPr/>
          <p:nvPr/>
        </p:nvSpPr>
        <p:spPr>
          <a:xfrm>
            <a:off x="896065" y="4837103"/>
            <a:ext cx="1993288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¥3,200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96065" y="5330853"/>
            <a:ext cx="1947571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1D2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假设研发成本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5928" y="4837103"/>
            <a:ext cx="2221876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¥1,200–1,600</a:t>
            </a:r>
            <a:endParaRPr lang="en-US" sz="1780" dirty="0"/>
          </a:p>
        </p:txBody>
      </p:sp>
      <p:sp>
        <p:nvSpPr>
          <p:cNvPr id="28" name="Text 26"/>
          <p:cNvSpPr/>
          <p:nvPr/>
        </p:nvSpPr>
        <p:spPr>
          <a:xfrm>
            <a:off x="2925928" y="5330853"/>
            <a:ext cx="2203589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1D2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每家新增客户假设节省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55790" y="4837103"/>
            <a:ext cx="1993288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2–3 家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955790" y="5330853"/>
            <a:ext cx="1947571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1D2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专项投入回收所需新增客户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42828" y="4005042"/>
            <a:ext cx="4041437" cy="1828705"/>
          </a:xfrm>
          <a:prstGeom prst="roundRect">
            <a:avLst>
              <a:gd name="adj" fmla="val 4000"/>
            </a:avLst>
          </a:prstGeom>
          <a:solidFill>
            <a:srgbClr val="FFF4DD"/>
          </a:solidFill>
          <a:ln w="12700">
            <a:solidFill>
              <a:srgbClr val="E9C8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560" y="4251917"/>
            <a:ext cx="3529400" cy="36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A76D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我们不做什么？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707991" y="4709093"/>
            <a:ext cx="3520257" cy="9052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4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✕ 无限范围的免费 PoC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✕ 每家从零重做平台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✕ 无上限的长期驻场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764" y="6007474"/>
            <a:ext cx="10935654" cy="26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96B7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*以上价格和回收数量均为假设测算，需真实签约、工时、支持成本及复制效果验证；不是公司已实现利润。</a:t>
            </a:r>
            <a:endParaRPr lang="en-US" sz="10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29" y="320202"/>
            <a:ext cx="10697923" cy="2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30" dirty="0">
                <a:solidFill>
                  <a:srgbClr val="138D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· WHY LINGANG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29" y="759091"/>
            <a:ext cx="11017946" cy="5668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28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到临港来，我们希望验证另一类客户和价值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16" y="1417425"/>
            <a:ext cx="10835076" cy="35659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475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目标不是简单换城市，而是检验复杂工业流程是否有更强的核验付费需求。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34" y="1911175"/>
            <a:ext cx="5284957" cy="2999076"/>
          </a:xfrm>
          <a:prstGeom prst="roundRect">
            <a:avLst>
              <a:gd name="adj" fmla="val 3963"/>
            </a:avLst>
          </a:prstGeom>
          <a:solidFill>
            <a:srgbClr val="FFFFFF"/>
          </a:solidFill>
          <a:ln w="8890">
            <a:solidFill>
              <a:srgbClr val="DAE3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50926" y="2212911"/>
            <a:ext cx="393172" cy="393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538" y="2112333"/>
            <a:ext cx="4004863" cy="4388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28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高端装备与工程配套企业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978357" y="2898676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797" y="2798097"/>
            <a:ext cx="4480327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设备技术文件、规格与版本差异</a:t>
            </a:r>
            <a:endParaRPr lang="en-US" sz="1260" dirty="0"/>
          </a:p>
        </p:txBody>
      </p:sp>
      <p:sp>
        <p:nvSpPr>
          <p:cNvPr id="10" name="Shape 7"/>
          <p:cNvSpPr/>
          <p:nvPr/>
        </p:nvSpPr>
        <p:spPr>
          <a:xfrm>
            <a:off x="978357" y="3374139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797" y="3273560"/>
            <a:ext cx="4480327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工程变更、质量证明、交付资料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978357" y="3849602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797" y="3749023"/>
            <a:ext cx="4480327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错误可能引发返工、退件或延期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960070" y="4453075"/>
            <a:ext cx="1984145" cy="283449"/>
          </a:xfrm>
          <a:prstGeom prst="roundRect">
            <a:avLst>
              <a:gd name="adj" fmla="val 38710"/>
            </a:avLst>
          </a:prstGeom>
          <a:solidFill>
            <a:srgbClr val="E6F5F1"/>
          </a:solidFill>
          <a:ln w="12700">
            <a:solidFill>
              <a:srgbClr val="E6F5F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362" y="4453075"/>
            <a:ext cx="1819561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79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直接客户验证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5883" y="1911175"/>
            <a:ext cx="5284957" cy="2999076"/>
          </a:xfrm>
          <a:prstGeom prst="roundRect">
            <a:avLst>
              <a:gd name="adj" fmla="val 3963"/>
            </a:avLst>
          </a:prstGeom>
          <a:solidFill>
            <a:srgbClr val="FFFFFF"/>
          </a:solidFill>
          <a:ln w="8890">
            <a:solidFill>
              <a:srgbClr val="DAE3E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19332" y="2212911"/>
            <a:ext cx="393172" cy="3931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231" y="2112333"/>
            <a:ext cx="4114586" cy="4388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28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工业软件实施商与集成商</a:t>
            </a: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6555907" y="2898676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11346" y="2798097"/>
            <a:ext cx="4452896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服务ERP / MES / PLM等工业客户</a:t>
            </a:r>
            <a:endParaRPr lang="en-US" sz="1260" dirty="0"/>
          </a:p>
        </p:txBody>
      </p:sp>
      <p:sp>
        <p:nvSpPr>
          <p:cNvPr id="21" name="Shape 17"/>
          <p:cNvSpPr/>
          <p:nvPr/>
        </p:nvSpPr>
        <p:spPr>
          <a:xfrm>
            <a:off x="6555907" y="3374139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11346" y="3273560"/>
            <a:ext cx="4452896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可能需要专用核验与审查组件</a:t>
            </a:r>
            <a:endParaRPr lang="en-US" sz="1260" dirty="0"/>
          </a:p>
        </p:txBody>
      </p:sp>
      <p:sp>
        <p:nvSpPr>
          <p:cNvPr id="23" name="Shape 19"/>
          <p:cNvSpPr/>
          <p:nvPr/>
        </p:nvSpPr>
        <p:spPr>
          <a:xfrm>
            <a:off x="6555907" y="3849602"/>
            <a:ext cx="73148" cy="73148"/>
          </a:xfrm>
          <a:prstGeom prst="rect">
            <a:avLst/>
          </a:prstGeom>
          <a:solidFill>
            <a:srgbClr val="138D84"/>
          </a:solidFill>
          <a:ln w="12700">
            <a:solidFill>
              <a:srgbClr val="138D84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11346" y="3749023"/>
            <a:ext cx="4452896" cy="42974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33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通过合作参与部分企业项目</a:t>
            </a:r>
            <a:endParaRPr lang="en-US" sz="1260" dirty="0"/>
          </a:p>
        </p:txBody>
      </p:sp>
      <p:sp>
        <p:nvSpPr>
          <p:cNvPr id="25" name="Shape 21"/>
          <p:cNvSpPr/>
          <p:nvPr/>
        </p:nvSpPr>
        <p:spPr>
          <a:xfrm>
            <a:off x="6555907" y="4453075"/>
            <a:ext cx="1984145" cy="283449"/>
          </a:xfrm>
          <a:prstGeom prst="roundRect">
            <a:avLst>
              <a:gd name="adj" fmla="val 38710"/>
            </a:avLst>
          </a:prstGeom>
          <a:solidFill>
            <a:srgbClr val="E6F5F1"/>
          </a:solidFill>
          <a:ln w="12700">
            <a:solidFill>
              <a:srgbClr val="E6F5F1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38198" y="4453075"/>
            <a:ext cx="1819561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79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合作渠道验证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58334" y="5230274"/>
            <a:ext cx="10862506" cy="658334"/>
          </a:xfrm>
          <a:prstGeom prst="roundRect">
            <a:avLst>
              <a:gd name="adj" fmla="val 18056"/>
            </a:avLst>
          </a:prstGeom>
          <a:solidFill>
            <a:srgbClr val="FFF3DF"/>
          </a:solidFill>
          <a:ln w="8890">
            <a:solidFill>
              <a:srgbClr val="EED5AA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23496" y="5449719"/>
            <a:ext cx="219445" cy="21944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07524" y="5385714"/>
            <a:ext cx="9765283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94672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市场假设，仍未成交：客户是否愿意为降低技术错误、提高交付可靠性付费？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94329" y="6528655"/>
            <a:ext cx="10999659" cy="0"/>
          </a:xfrm>
          <a:prstGeom prst="line">
            <a:avLst/>
          </a:prstGeom>
          <a:noFill/>
          <a:ln w="8255">
            <a:solidFill>
              <a:srgbClr val="DAE3E8"/>
            </a:solidFill>
            <a:prstDash val="solid"/>
            <a:headEnd type="none"/>
          </a:ln>
        </p:spPr>
      </p:sp>
      <p:sp>
        <p:nvSpPr>
          <p:cNvPr id="31" name="Text 26"/>
          <p:cNvSpPr/>
          <p:nvPr/>
        </p:nvSpPr>
        <p:spPr>
          <a:xfrm>
            <a:off x="612616" y="6574372"/>
            <a:ext cx="5028938" cy="16458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190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HOULAI STUDIO  /  猴来工作室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674772" y="6574372"/>
            <a:ext cx="4324887" cy="16458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190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主讲 05:10—06:10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11200817" y="6565229"/>
            <a:ext cx="365741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8190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9"/>
            <a:ext cx="12191060" cy="100579"/>
          </a:xfrm>
          <a:prstGeom prst="rect">
            <a:avLst/>
          </a:prstGeom>
          <a:solidFill>
            <a:srgbClr val="14263F"/>
          </a:solidFill>
          <a:ln w="12700">
            <a:solidFill>
              <a:srgbClr val="0E938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473" y="265341"/>
            <a:ext cx="4571762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HOU LAI  /  猴来工作室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12616" y="603651"/>
            <a:ext cx="10057876" cy="256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kern="0" spc="8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/  用证据决定是否扩张</a:t>
            </a:r>
            <a:endParaRPr lang="en-US" sz="1040" dirty="0"/>
          </a:p>
        </p:txBody>
      </p:sp>
      <p:sp>
        <p:nvSpPr>
          <p:cNvPr id="5" name="Text 3"/>
          <p:cNvSpPr/>
          <p:nvPr/>
        </p:nvSpPr>
        <p:spPr>
          <a:xfrm>
            <a:off x="603473" y="923674"/>
            <a:ext cx="11063664" cy="58518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三个月后，我们用四类证据回答一个问题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60" y="1554578"/>
            <a:ext cx="10835076" cy="384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能否让非原作者持续交付同类问题，并且客户愿意付费、质量不下降、总成本逐步降低？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10953941" y="329345"/>
            <a:ext cx="658334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03" y="2094046"/>
            <a:ext cx="5348961" cy="1572686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30" y="2286060"/>
            <a:ext cx="585186" cy="411459"/>
          </a:xfrm>
          <a:prstGeom prst="roundRect">
            <a:avLst>
              <a:gd name="adj" fmla="val 35556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09" y="2331777"/>
            <a:ext cx="393172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8B4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36112" y="2258629"/>
            <a:ext cx="4068868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商业证据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877778" y="2788953"/>
            <a:ext cx="4818637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有独立客户的真实付费或明确采购推进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7778" y="3209555"/>
            <a:ext cx="4818637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区分访谈兴趣、试点意向、合同与回款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208453" y="2094046"/>
            <a:ext cx="5348961" cy="1572686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180" y="2286060"/>
            <a:ext cx="585186" cy="411459"/>
          </a:xfrm>
          <a:prstGeom prst="roundRect">
            <a:avLst>
              <a:gd name="adj" fmla="val 35556"/>
            </a:avLst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2758" y="2331777"/>
            <a:ext cx="393172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13661" y="2258629"/>
            <a:ext cx="4068868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安全与质量</a:t>
            </a:r>
            <a:endParaRPr lang="en-US" sz="1720" dirty="0"/>
          </a:p>
        </p:txBody>
      </p:sp>
      <p:sp>
        <p:nvSpPr>
          <p:cNvPr id="18" name="Text 16"/>
          <p:cNvSpPr/>
          <p:nvPr/>
        </p:nvSpPr>
        <p:spPr>
          <a:xfrm>
            <a:off x="6455328" y="2788953"/>
            <a:ext cx="4818637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冻结测试集上关键异常不被错误放行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55328" y="3209555"/>
            <a:ext cx="4818637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确认来源、版本、单位及过期结论行为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30903" y="3941037"/>
            <a:ext cx="5348961" cy="1572686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30" y="4133051"/>
            <a:ext cx="585186" cy="411459"/>
          </a:xfrm>
          <a:prstGeom prst="roundRect">
            <a:avLst>
              <a:gd name="adj" fmla="val 35556"/>
            </a:avLst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09" y="4178769"/>
            <a:ext cx="393172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536112" y="4105621"/>
            <a:ext cx="4068868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独立交付</a:t>
            </a:r>
            <a:endParaRPr lang="en-US" sz="1720" dirty="0"/>
          </a:p>
        </p:txBody>
      </p:sp>
      <p:sp>
        <p:nvSpPr>
          <p:cNvPr id="24" name="Text 22"/>
          <p:cNvSpPr/>
          <p:nvPr/>
        </p:nvSpPr>
        <p:spPr>
          <a:xfrm>
            <a:off x="877778" y="4635945"/>
            <a:ext cx="4818637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A不依赖原作者完成部署、复核与验收材料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7778" y="5056547"/>
            <a:ext cx="4818637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记录人工求助、失败次数与返工工时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6208453" y="3941037"/>
            <a:ext cx="5348961" cy="1572686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2180" y="4133051"/>
            <a:ext cx="585186" cy="411459"/>
          </a:xfrm>
          <a:prstGeom prst="roundRect">
            <a:avLst>
              <a:gd name="adj" fmla="val 35556"/>
            </a:avLst>
          </a:prstGeom>
          <a:solidFill>
            <a:srgbClr val="E4F5F2"/>
          </a:solidFill>
          <a:ln w="12700">
            <a:solidFill>
              <a:srgbClr val="E4F5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2758" y="4178769"/>
            <a:ext cx="393172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9695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113661" y="4105621"/>
            <a:ext cx="4068868" cy="4114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1426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完整经济性</a:t>
            </a:r>
            <a:endParaRPr lang="en-US" sz="1720" dirty="0"/>
          </a:p>
        </p:txBody>
      </p:sp>
      <p:sp>
        <p:nvSpPr>
          <p:cNvPr id="30" name="Text 28"/>
          <p:cNvSpPr/>
          <p:nvPr/>
        </p:nvSpPr>
        <p:spPr>
          <a:xfrm>
            <a:off x="6455328" y="4635945"/>
            <a:ext cx="4818637" cy="32916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42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相近难度下总成本改善，计入公共研发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55328" y="5056547"/>
            <a:ext cx="4818637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分开核算交付费用、研发投入与现金回款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30903" y="5751455"/>
            <a:ext cx="10926511" cy="466320"/>
          </a:xfrm>
          <a:prstGeom prst="roundRect">
            <a:avLst>
              <a:gd name="adj" fmla="val 31373"/>
            </a:avLst>
          </a:prstGeom>
          <a:solidFill>
            <a:srgbClr val="14263F"/>
          </a:solidFill>
          <a:ln w="12700">
            <a:solidFill>
              <a:srgbClr val="1426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17" y="5842890"/>
            <a:ext cx="10551626" cy="28344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决策门槛：质量未过关先 HOLD；有独立付费与可靠交付证据再 GO；长期不愿付费或成本失控则调整 / STOP。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612616" y="6501224"/>
            <a:ext cx="10963085" cy="0"/>
          </a:xfrm>
          <a:prstGeom prst="line">
            <a:avLst/>
          </a:prstGeom>
          <a:noFill/>
          <a:ln w="10160">
            <a:solidFill>
              <a:srgbClr val="DDE6EE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621760" y="6537798"/>
            <a:ext cx="10972229" cy="19201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070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希望园区协助对接：真实企业访谈、合规授权样本、具备预算决策权的付费试点机会。</a:t>
            </a:r>
            <a:endParaRPr lang="en-US" sz="89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34" y="356776"/>
            <a:ext cx="9692135" cy="246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30" dirty="0">
                <a:solidFill>
                  <a:srgbClr val="38B6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MATCH WITH LINGANG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34" y="804809"/>
            <a:ext cx="10697923" cy="5303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chemeClr val="tx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我们能为园区做什么，</a:t>
            </a:r>
            <a:endParaRPr lang="en-US" sz="2700" b="1" dirty="0">
              <a:solidFill>
                <a:schemeClr val="tx1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34" y="1380851"/>
            <a:ext cx="10697923" cy="5303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chemeClr val="tx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又希望获得怎样的合作入口</a:t>
            </a: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9190" y="2167194"/>
            <a:ext cx="5303244" cy="1984145"/>
          </a:xfrm>
          <a:prstGeom prst="roundRect">
            <a:avLst>
              <a:gd name="adj" fmla="val 5991"/>
            </a:avLst>
          </a:prstGeom>
          <a:solidFill>
            <a:srgbClr val="203D51"/>
          </a:solidFill>
          <a:ln w="12700">
            <a:solidFill>
              <a:srgbClr val="203D5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596" y="2167194"/>
            <a:ext cx="5312387" cy="1984145"/>
          </a:xfrm>
          <a:prstGeom prst="roundRect">
            <a:avLst>
              <a:gd name="adj" fmla="val 5991"/>
            </a:avLst>
          </a:prstGeom>
          <a:solidFill>
            <a:srgbClr val="203D51"/>
          </a:solidFill>
          <a:ln w="12700">
            <a:solidFill>
              <a:srgbClr val="203D5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39" y="2377495"/>
            <a:ext cx="4160303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95E4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猴来可以提供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78357" y="2953537"/>
            <a:ext cx="73148" cy="73148"/>
          </a:xfrm>
          <a:prstGeom prst="rect">
            <a:avLst/>
          </a:prstGeom>
          <a:solidFill>
            <a:srgbClr val="38B6A6"/>
          </a:solidFill>
          <a:ln w="12700">
            <a:solidFill>
              <a:srgbClr val="38B6A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797" y="2852958"/>
            <a:ext cx="4416322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现有工业核验原型与工程经验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78357" y="3291847"/>
            <a:ext cx="73148" cy="73148"/>
          </a:xfrm>
          <a:prstGeom prst="rect">
            <a:avLst/>
          </a:prstGeom>
          <a:solidFill>
            <a:srgbClr val="38B6A6"/>
          </a:solidFill>
          <a:ln w="12700">
            <a:solidFill>
              <a:srgbClr val="38B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797" y="3191268"/>
            <a:ext cx="4416322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有限范围的业务诊断、测试和原型验证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78357" y="3630158"/>
            <a:ext cx="73148" cy="73148"/>
          </a:xfrm>
          <a:prstGeom prst="rect">
            <a:avLst/>
          </a:prstGeom>
          <a:solidFill>
            <a:srgbClr val="38B6A6"/>
          </a:solidFill>
          <a:ln w="12700">
            <a:solidFill>
              <a:srgbClr val="38B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797" y="3529579"/>
            <a:ext cx="4416322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清晰的质量边界及可复核结果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10189" y="2377495"/>
            <a:ext cx="4196877" cy="320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95E4D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希望园区帮助对接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65050" y="2953537"/>
            <a:ext cx="73148" cy="73148"/>
          </a:xfrm>
          <a:prstGeom prst="rect">
            <a:avLst/>
          </a:prstGeom>
          <a:solidFill>
            <a:srgbClr val="38B6A6"/>
          </a:solidFill>
          <a:ln w="12700">
            <a:solidFill>
              <a:srgbClr val="38B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490" y="2852958"/>
            <a:ext cx="4443753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1—2家有真实核验需求的制造企业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65050" y="3291847"/>
            <a:ext cx="73148" cy="73148"/>
          </a:xfrm>
          <a:prstGeom prst="rect">
            <a:avLst/>
          </a:prstGeom>
          <a:solidFill>
            <a:srgbClr val="38B6A6"/>
          </a:solidFill>
          <a:ln w="12700">
            <a:solidFill>
              <a:srgbClr val="38B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490" y="3191268"/>
            <a:ext cx="4443753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1家有工业项目的实施合作方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65050" y="3630158"/>
            <a:ext cx="73148" cy="73148"/>
          </a:xfrm>
          <a:prstGeom prst="rect">
            <a:avLst/>
          </a:prstGeom>
          <a:solidFill>
            <a:srgbClr val="38B6A6"/>
          </a:solidFill>
          <a:ln w="12700">
            <a:solidFill>
              <a:srgbClr val="38B6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490" y="3529579"/>
            <a:ext cx="4443753" cy="29259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合法授权样本与明确的试点采购路径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195" y="4507936"/>
            <a:ext cx="2925928" cy="310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进入临港后的90天</a:t>
            </a: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9769" y="5010830"/>
            <a:ext cx="3501970" cy="594329"/>
          </a:xfrm>
          <a:prstGeom prst="roundRect">
            <a:avLst>
              <a:gd name="adj" fmla="val 20000"/>
            </a:avLst>
          </a:prstGeom>
          <a:solidFill>
            <a:srgbClr val="20465A"/>
          </a:solidFill>
          <a:ln w="12700">
            <a:solidFill>
              <a:srgbClr val="2046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065" y="5083978"/>
            <a:ext cx="850348" cy="2011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2DE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0—30天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78940" y="5032375"/>
            <a:ext cx="2426335" cy="4813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访谈与场景筛选</a:t>
            </a:r>
            <a:r>
              <a:rPr lang="zh-CN" alt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，形成高质量的企业访谈和</a:t>
            </a:r>
            <a:r>
              <a:rPr lang="zh-CN" alt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场景需求</a:t>
            </a:r>
            <a:r>
              <a:rPr lang="zh-CN" alt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调研。</a:t>
            </a:r>
            <a:endParaRPr lang="zh-CN" altLang="en-US" sz="116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07757" y="5010830"/>
            <a:ext cx="3501970" cy="594329"/>
          </a:xfrm>
          <a:prstGeom prst="roundRect">
            <a:avLst>
              <a:gd name="adj" fmla="val 20000"/>
            </a:avLst>
          </a:prstGeom>
          <a:solidFill>
            <a:srgbClr val="20465A"/>
          </a:solidFill>
          <a:ln w="12700">
            <a:solidFill>
              <a:srgbClr val="20465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054" y="5083978"/>
            <a:ext cx="850348" cy="2011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2DE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31—60天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9570" y="5047615"/>
            <a:ext cx="2547620" cy="4806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争取授权和受控验证</a:t>
            </a:r>
            <a:r>
              <a:rPr lang="zh-CN" alt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，将</a:t>
            </a:r>
            <a:r>
              <a:rPr lang="en-US" altLang="zh-CN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r>
              <a:rPr lang="zh-CN" alt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技术融入到企业真实的业务活动中评测</a:t>
            </a:r>
            <a:r>
              <a:rPr lang="zh-CN" alt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效果。</a:t>
            </a:r>
            <a:endParaRPr lang="zh-CN" altLang="en-US" sz="116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65745" y="5010830"/>
            <a:ext cx="3501970" cy="594329"/>
          </a:xfrm>
          <a:prstGeom prst="roundRect">
            <a:avLst>
              <a:gd name="adj" fmla="val 20000"/>
            </a:avLst>
          </a:prstGeom>
          <a:solidFill>
            <a:srgbClr val="145E5F"/>
          </a:solidFill>
          <a:ln w="12700">
            <a:solidFill>
              <a:srgbClr val="145E5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042" y="5083978"/>
            <a:ext cx="850348" cy="2011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2DE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61—90天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20835" y="5009515"/>
            <a:ext cx="2426335" cy="5314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</a:t>
            </a:r>
            <a:r>
              <a:rPr 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付费试点</a:t>
            </a:r>
            <a:r>
              <a:rPr lang="zh-CN" alt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，以业务价值为导向真正帮助企业降本增效，落地</a:t>
            </a:r>
            <a:r>
              <a:rPr lang="en-US" altLang="zh-CN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r>
              <a:rPr lang="zh-CN" altLang="en-US" sz="11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技术。</a:t>
            </a:r>
            <a:endParaRPr lang="zh-CN" altLang="en-US" sz="116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3195" y="5952613"/>
            <a:ext cx="8229171" cy="27430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/>
              <a:t>联系人：张晟博。电话（微信同号）：</a:t>
            </a:r>
            <a:r>
              <a:rPr lang="en-US" altLang="zh-CN" sz="1200" dirty="0"/>
              <a:t>15917758026</a:t>
            </a:r>
            <a:r>
              <a:rPr lang="zh-CN" altLang="en-US" sz="1200" dirty="0"/>
              <a:t>。</a:t>
            </a:r>
            <a:endParaRPr lang="zh-CN" alt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29" y="6528655"/>
            <a:ext cx="10999659" cy="0"/>
          </a:xfrm>
          <a:prstGeom prst="line">
            <a:avLst/>
          </a:prstGeom>
          <a:noFill/>
          <a:ln w="8255">
            <a:solidFill>
              <a:srgbClr val="29465B"/>
            </a:solidFill>
            <a:prstDash val="solid"/>
            <a:headEnd type="none"/>
          </a:ln>
        </p:spPr>
      </p:sp>
      <p:sp>
        <p:nvSpPr>
          <p:cNvPr id="33" name="Text 31"/>
          <p:cNvSpPr/>
          <p:nvPr/>
        </p:nvSpPr>
        <p:spPr>
          <a:xfrm>
            <a:off x="612616" y="6574372"/>
            <a:ext cx="5028938" cy="16458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EB7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HOULAI STUDIO  /  猴来工作室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4772" y="6574372"/>
            <a:ext cx="4324887" cy="16458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EB7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主讲 06:10—07:00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200817" y="6565229"/>
            <a:ext cx="365741" cy="1828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EB7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9226</Words>
  <Application>WPS 演示</Application>
  <PresentationFormat>On-screen Show (4:3)</PresentationFormat>
  <Paragraphs>1407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0" baseType="lpstr">
      <vt:lpstr>Arial</vt:lpstr>
      <vt:lpstr>宋体</vt:lpstr>
      <vt:lpstr>Wingdings</vt:lpstr>
      <vt:lpstr>Arial</vt:lpstr>
      <vt:lpstr>Noto Sans CJK SC</vt:lpstr>
      <vt:lpstr>苹方-简</vt:lpstr>
      <vt:lpstr>Noto Sans CJK SC</vt:lpstr>
      <vt:lpstr>Noto Sans CJK SC</vt:lpstr>
      <vt:lpstr>微软雅黑</vt:lpstr>
      <vt:lpstr>汉仪旗黑</vt:lpstr>
      <vt:lpstr>微软雅黑</vt:lpstr>
      <vt:lpstr>微软雅黑</vt:lpstr>
      <vt:lpstr>微软雅黑</vt:lpstr>
      <vt:lpstr>Calibri</vt:lpstr>
      <vt:lpstr>Helvetica Neue</vt:lpstr>
      <vt:lpstr>宋体</vt:lpstr>
      <vt:lpstr>汉仪书宋二KW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熹微.</cp:lastModifiedBy>
  <cp:revision>25</cp:revision>
  <dcterms:created xsi:type="dcterms:W3CDTF">2026-10-28T23:19:58Z</dcterms:created>
  <dcterms:modified xsi:type="dcterms:W3CDTF">2026-10-28T23:19:58Z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9B683D161AC16AD4E8B9E16AD6AB60FF_43</vt:lpwstr>
  </property>
  <property fmtid="{D5CDD505-2E9C-101B-9397-08002B2CF9AE}" pid="3" name="KSOProductBuildVer">
    <vt:lpwstr>2052-6.5.0.8619</vt:lpwstr>
  </property>
</Properties>
</file>